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38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grupo e o objetivo: transformar ~100 mil pedidos da Olist em uma narrativa executiva sobre crescimento, logística e satisfação, com recomendações acionáveis.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é a Olist: marketplace que conecta PMEs a grandes canais, centralizando catálogo, pagamento e logística. Base pública: ~100 mil pedidos, 8 tabelas relacionais, set/2016 a out/2018. Cinco trilhas guiam a análise.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TL;DR para investidores. Operação saudável: R$13,2M de GMV, ticket de R$159, nota 4,09. Mas dois alertas embutidos: só ~3% de recompra e 66% da receita em três estados. Entrega média 12,6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mensagens-âncora. 1: crescimento real mas em desaceleração — curva em S. 2: logística é o principal driver de satisfação e de risco. 3: retenção é a maior oportunidade não explorada — só 3% recompram.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a Trilha 1 — Crescimento e Receita. Pergunta: como pedidos, receita e ticket evoluíram, e o que sustenta esse resultado em categorias, regiões e vendedores.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Receita saltou de ~R$112 mil/mês em jan/2017 para um patamar acima de R$700 mil em 2018. Pico claro de Black Friday em nov/2017. Crescimento consistente, mas o salto mês a mês diminui — sinal de maturação.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Comparando os mesmos meses (jan-ago) de 2017 e 2018, o crescimento é expressivo — mas o salto vem diminuindo mês a mês. Padrão de curva em S: a fase de aquisição amadurece; o próximo patamar depende de retenção 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portfólio é amplo (71 categorias ativas) mas altamente concentrado. Health &amp; beauty, watches &amp; gifts, bed bath table, sports &amp; leisure e computers lideram. Cerca de 12 categorias já somam ~80% da receita — efeito Pareto clássico.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receita é fortemente concentrada no eixo Sul-Sudeste. São Paulo sozinho ≈ 40%; SP + RJ + MG somam ~66%. Base sólida em mercados maduros, mas risco de concentração — expansão para Norte/Nordeste é alavanca pouco explorada.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a Trilha 2 — Logística e SLA. Pergunta: quanto tempo leva do pedido à entrega, atrasos impactam a satisfação, e quais regiões têm pior desempenho.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jornada do pedido leva ~12,6 dias da compra à entrega. O transporte (postagem→entrega) é a etapa que mais consome tempo — o maior gargalo. Aprovação de pagamento é quase instantânea.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entre atraso e nota é clara e negativa (-0,33). Pedidos no prazo recebem ~4,3; atrasados, ~2,6 — quase 1,7 ponto a menos. Quanto mais demorada a entrega, pior a nota. Logística é a principal alavanca de satisfação.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Disparidade estrutural: Norte e Nordeste têm tempos de entrega 2 a 3 vezes maiores que SP e mais atrasos — exatamente as regiões com menor receita. Pior logística leva a pior experiência e menor penetração: um ciclo de reforço negativo.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a Trilha 3 — Comportamento e Pagamentos. Como os clientes pagam, qual o perfil de recência/frequência/valor e se a base recompra.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cartão de crédito domina (~3 em 4 transações), com parcelamento médio de ~3,5x. O ticket de R$159 já é tratado como compra parcelável — há espaço para testar ticket mais alto sem fricção. Boleto (~19%) ainda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achado mais crítico: apenas ~3% dos clientes fazem um segundo pedido. Muito baixo para e-commerce maduro (benchmark 20-30% em 12 meses). O modelo depende de aquisição contínua, não de retenção — alto CAC, baixo LTV.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a Trilha 4 — Satisfação do Cliente. Como se distribuem as notas, o que explica a insatisfação e se há risco de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é majoritariamente satisfeita: 77% das notas são 4 ou 5, nota média 4,09. Mas 14,7% são notas 1 ou 2 — fatia relevante de insatisfeitos que gera avaliações públicas negativas e afeta a reputação num marketplace.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leitura dos comentários negativos, atraso/prazo e produto não chegou dominam — juntos respondem por boa parte das reclamações. Confirma de forma qualitativa o quantitativo: logística é o maior ponto de atenção, à frente de produto ou atendimento. Risco de churn: cliente adquirido e perdido na mesma transação.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a Trilha 5 — Oportunidades, previsão e recomendações. Para onde a receita tende, quais vendedores e rotas priorizar, e quais ações recomendamos aos investidores.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Extrapolação de tendência linear aponta continuidade do crescimento no curto prazo para set-nov/2018. Modelo direcional, não orçamento fechado: não considera sazonalidade fina nem ações de marketing. Leitura construtiva.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recomendações acionáveis, cada uma ancorada em evidência de uma trilha. Prioridades: programa de recompra, SLA logístico em picos, replicar vendedores elite, revisar frete, expansão regional condicionada, cross-sell nas âncoras e alerta de risco de atraso.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Olist é comercialmente saudável e em crescimento. Os dois riscos estruturais — dependência de aquisição e gargalo logístico — são também as duas maiores alavancas de valor, e estão sob controle direto da gestão, não de fatores macro. Leitura construtiva para investidores.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Agradecer e abrir para perguntas. Reforçar a fonte e o caráter reprodutível da análise.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3903917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RELATÓRIO EXECUTIVO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4312265" y="838200"/>
            <a:ext cx="332555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1 — DATA ANALYTICS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52500" y="2248376"/>
            <a:ext cx="146685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50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CASE E-COMMERCE · BRAZILIAN MARKETPLACE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" y="2808446"/>
            <a:ext cx="13735050" cy="2719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900" b="1" kern="0" spc="-1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Performance comercial, logística e satisfação do cliente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952500" y="5813703"/>
            <a:ext cx="11576685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>
                    <a:alpha val="78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Storytelling com dados — da transação ao insight acionável para investidores e acionistas.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7524393"/>
            <a:ext cx="247650" cy="266700"/>
          </a:xfrm>
          <a:prstGeom prst="roundRect">
            <a:avLst>
              <a:gd name="adj" fmla="val 11538"/>
            </a:avLst>
          </a:prstGeom>
          <a:solidFill>
            <a:srgbClr val="2E86AB"/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7377708"/>
            <a:ext cx="247650" cy="413385"/>
          </a:xfrm>
          <a:prstGeom prst="roundRect">
            <a:avLst>
              <a:gd name="adj" fmla="val 11538"/>
            </a:avLst>
          </a:prstGeom>
          <a:solidFill>
            <a:srgbClr val="2E86AB"/>
          </a:solidFill>
          <a:ln/>
        </p:spPr>
      </p:sp>
      <p:sp>
        <p:nvSpPr>
          <p:cNvPr id="9" name="Shape 7"/>
          <p:cNvSpPr/>
          <p:nvPr/>
        </p:nvSpPr>
        <p:spPr>
          <a:xfrm>
            <a:off x="1714500" y="7424381"/>
            <a:ext cx="247650" cy="366713"/>
          </a:xfrm>
          <a:prstGeom prst="roundRect">
            <a:avLst>
              <a:gd name="adj" fmla="val 11538"/>
            </a:avLst>
          </a:prstGeom>
          <a:solidFill>
            <a:srgbClr val="8ECAE6"/>
          </a:solidFill>
          <a:ln/>
        </p:spPr>
      </p:sp>
      <p:sp>
        <p:nvSpPr>
          <p:cNvPr id="10" name="Shape 8"/>
          <p:cNvSpPr/>
          <p:nvPr/>
        </p:nvSpPr>
        <p:spPr>
          <a:xfrm>
            <a:off x="2095500" y="7271028"/>
            <a:ext cx="247650" cy="520065"/>
          </a:xfrm>
          <a:prstGeom prst="roundRect">
            <a:avLst>
              <a:gd name="adj" fmla="val 11538"/>
            </a:avLst>
          </a:prstGeom>
          <a:solidFill>
            <a:srgbClr val="8ECAE6"/>
          </a:solidFill>
          <a:ln/>
        </p:spPr>
      </p:sp>
      <p:sp>
        <p:nvSpPr>
          <p:cNvPr id="11" name="Shape 9"/>
          <p:cNvSpPr/>
          <p:nvPr/>
        </p:nvSpPr>
        <p:spPr>
          <a:xfrm>
            <a:off x="2476500" y="7124343"/>
            <a:ext cx="247650" cy="666750"/>
          </a:xfrm>
          <a:prstGeom prst="roundRect">
            <a:avLst>
              <a:gd name="adj" fmla="val 11538"/>
            </a:avLst>
          </a:prstGeom>
          <a:solidFill>
            <a:srgbClr val="F18F01"/>
          </a:solidFill>
          <a:ln/>
        </p:spPr>
      </p:sp>
      <p:sp>
        <p:nvSpPr>
          <p:cNvPr id="12" name="Shape 10"/>
          <p:cNvSpPr/>
          <p:nvPr/>
        </p:nvSpPr>
        <p:spPr>
          <a:xfrm>
            <a:off x="2857500" y="7204353"/>
            <a:ext cx="247650" cy="586740"/>
          </a:xfrm>
          <a:prstGeom prst="roundRect">
            <a:avLst>
              <a:gd name="adj" fmla="val 11538"/>
            </a:avLst>
          </a:prstGeom>
          <a:solidFill>
            <a:srgbClr val="8ECAE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38500" y="7164348"/>
            <a:ext cx="247650" cy="626745"/>
          </a:xfrm>
          <a:prstGeom prst="roundRect">
            <a:avLst>
              <a:gd name="adj" fmla="val 11538"/>
            </a:avLst>
          </a:prstGeom>
          <a:solidFill>
            <a:srgbClr val="8ECAE6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8980170"/>
            <a:ext cx="163830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9235440"/>
            <a:ext cx="336327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" dirty="0">
                <a:solidFill>
                  <a:srgbClr val="FFFFFF">
                    <a:alpha val="6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POSTECH Data Analytics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4467225" y="9235440"/>
            <a:ext cx="257851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" dirty="0">
                <a:solidFill>
                  <a:srgbClr val="FFFFFF">
                    <a:alpha val="6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Challenge · Fase 1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9080182" y="9235440"/>
            <a:ext cx="908084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" dirty="0">
                <a:solidFill>
                  <a:srgbClr val="FFFFFF">
                    <a:alpha val="6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Fonte: Brazilian E-Commerce Public Dataset (Olist / Kaggle) · set 2016 – out 2018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477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CONTEXTO DE NEGÓCIO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1002030"/>
            <a:ext cx="1835658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Quem é a Olist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800100" y="1673542"/>
            <a:ext cx="1471612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Marketplace brasileiro que conecta pequenos e médios lojistas aos grandes canais de venda, centralizando catálogo, pagamentos e logística em uma única operação.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800100" y="2831783"/>
            <a:ext cx="4000500" cy="1443990"/>
          </a:xfrm>
          <a:prstGeom prst="roundRect">
            <a:avLst>
              <a:gd name="adj" fmla="val 10554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4420" y="3125153"/>
            <a:ext cx="37970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75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~100 mil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074420" y="3734753"/>
            <a:ext cx="37970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pedidos analisados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2831783"/>
            <a:ext cx="4000500" cy="1443990"/>
          </a:xfrm>
          <a:prstGeom prst="roundRect">
            <a:avLst>
              <a:gd name="adj" fmla="val 10554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3125153"/>
            <a:ext cx="37970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75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25 meses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5303520" y="3734753"/>
            <a:ext cx="37970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set/2016 a out/2018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258300" y="2831783"/>
            <a:ext cx="4000500" cy="1443990"/>
          </a:xfrm>
          <a:prstGeom prst="roundRect">
            <a:avLst>
              <a:gd name="adj" fmla="val 10554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532620" y="3125153"/>
            <a:ext cx="37970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75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 tabelas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9532620" y="3734753"/>
            <a:ext cx="37970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relacionais integradas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487400" y="2831783"/>
            <a:ext cx="4000500" cy="1443990"/>
          </a:xfrm>
          <a:prstGeom prst="roundRect">
            <a:avLst>
              <a:gd name="adj" fmla="val 10554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61720" y="3125153"/>
            <a:ext cx="37970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kern="0" spc="-75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97%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3761720" y="3734753"/>
            <a:ext cx="37970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dos pedidos entregues (base analítica)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0100" y="4675822"/>
            <a:ext cx="1835658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CINCO TRILHAS GUIAM A ANÁLISE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" y="5053013"/>
            <a:ext cx="3215640" cy="1240155"/>
          </a:xfrm>
          <a:prstGeom prst="roundRect">
            <a:avLst>
              <a:gd name="adj" fmla="val 10753"/>
            </a:avLst>
          </a:prstGeom>
          <a:solidFill>
            <a:srgbClr val="1B3B6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9650" y="5262563"/>
            <a:ext cx="28194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09650" y="5559743"/>
            <a:ext cx="30761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Crescimento e receita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168140" y="5053013"/>
            <a:ext cx="3215640" cy="1240155"/>
          </a:xfrm>
          <a:prstGeom prst="roundRect">
            <a:avLst>
              <a:gd name="adj" fmla="val 10753"/>
            </a:avLst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377690" y="5262563"/>
            <a:ext cx="28194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E0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77690" y="5559743"/>
            <a:ext cx="30761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Logística e SLA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7536180" y="5053013"/>
            <a:ext cx="3215640" cy="1240155"/>
          </a:xfrm>
          <a:prstGeom prst="roundRect">
            <a:avLst>
              <a:gd name="adj" fmla="val 10753"/>
            </a:avLst>
          </a:prstGeom>
          <a:solidFill>
            <a:srgbClr val="2E86AB"/>
          </a:solidFill>
          <a:ln/>
        </p:spPr>
      </p:sp>
      <p:sp>
        <p:nvSpPr>
          <p:cNvPr id="25" name="Text 23"/>
          <p:cNvSpPr/>
          <p:nvPr/>
        </p:nvSpPr>
        <p:spPr>
          <a:xfrm>
            <a:off x="7745730" y="5262563"/>
            <a:ext cx="28194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E0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45730" y="5559743"/>
            <a:ext cx="288043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Comportamento e pagamentos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0904220" y="5053013"/>
            <a:ext cx="3215640" cy="1240155"/>
          </a:xfrm>
          <a:prstGeom prst="roundRect">
            <a:avLst>
              <a:gd name="adj" fmla="val 10753"/>
            </a:avLst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11113770" y="5262563"/>
            <a:ext cx="28194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E0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113770" y="5559743"/>
            <a:ext cx="30761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Satisfação do cliente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4272260" y="5053013"/>
            <a:ext cx="3215640" cy="1240155"/>
          </a:xfrm>
          <a:prstGeom prst="roundRect">
            <a:avLst>
              <a:gd name="adj" fmla="val 10753"/>
            </a:avLst>
          </a:prstGeom>
          <a:solidFill>
            <a:srgbClr val="1B3B6F"/>
          </a:solidFill>
          <a:ln/>
        </p:spPr>
      </p:sp>
      <p:sp>
        <p:nvSpPr>
          <p:cNvPr id="31" name="Text 29"/>
          <p:cNvSpPr/>
          <p:nvPr/>
        </p:nvSpPr>
        <p:spPr>
          <a:xfrm>
            <a:off x="14481810" y="5262563"/>
            <a:ext cx="28194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4481810" y="5559743"/>
            <a:ext cx="288043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Oportunidades e recomendações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00100" y="94297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" y="9608820"/>
            <a:ext cx="308562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Tech Challenge — Fase 1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2601575" y="9608820"/>
            <a:ext cx="537495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Brazilian E-Commerce Public Dataset (Kaggle) · 02 / 24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477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SUMÁRIO EXECUTIVO · TL;DR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1002030"/>
            <a:ext cx="1835658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Os números que sustentam a tese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800100" y="1825942"/>
            <a:ext cx="5435561" cy="2312313"/>
          </a:xfrm>
          <a:prstGeom prst="roundRect">
            <a:avLst>
              <a:gd name="adj" fmla="val 6591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3470" y="2408634"/>
            <a:ext cx="533370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GMV TRANSACIONADO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3470" y="2671524"/>
            <a:ext cx="533370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R$ 13,2 mi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093470" y="3334464"/>
            <a:ext cx="533370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~96,5 mil pedidos entregues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6426161" y="1825942"/>
            <a:ext cx="5435561" cy="2312313"/>
          </a:xfrm>
          <a:prstGeom prst="roundRect">
            <a:avLst>
              <a:gd name="adj" fmla="val 6591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19531" y="2408634"/>
            <a:ext cx="533370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RECEITA TOTAL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19531" y="2671524"/>
            <a:ext cx="533370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R$ 15,4 mi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6719531" y="3334464"/>
            <a:ext cx="533370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frete ≈ 14,3% da receita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2052221" y="1825942"/>
            <a:ext cx="5435561" cy="2312313"/>
          </a:xfrm>
          <a:prstGeom prst="roundRect">
            <a:avLst>
              <a:gd name="adj" fmla="val 6591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5591" y="2408634"/>
            <a:ext cx="533370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TICKET MÉDIO (AOV)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5591" y="2671524"/>
            <a:ext cx="533370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R$ 159,80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12345591" y="3334464"/>
            <a:ext cx="533370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R$ 137 só produto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800100" y="4328755"/>
            <a:ext cx="5435561" cy="2312313"/>
          </a:xfrm>
          <a:prstGeom prst="roundRect">
            <a:avLst>
              <a:gd name="adj" fmla="val 6591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0100" y="6633448"/>
            <a:ext cx="5435561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18" name="Shape 16"/>
          <p:cNvSpPr/>
          <p:nvPr/>
        </p:nvSpPr>
        <p:spPr>
          <a:xfrm>
            <a:off x="800100" y="4328755"/>
            <a:ext cx="5435561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" y="4328755"/>
            <a:ext cx="45720" cy="2312313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20" name="Shape 18"/>
          <p:cNvSpPr/>
          <p:nvPr/>
        </p:nvSpPr>
        <p:spPr>
          <a:xfrm>
            <a:off x="6228041" y="4328755"/>
            <a:ext cx="9525" cy="2312313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21" name="Text 19"/>
          <p:cNvSpPr/>
          <p:nvPr/>
        </p:nvSpPr>
        <p:spPr>
          <a:xfrm>
            <a:off x="1131570" y="4911447"/>
            <a:ext cx="529179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CLIENTES ÚNICOS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1570" y="5174337"/>
            <a:ext cx="529179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96,1 mil</a:t>
            </a:r>
            <a:endParaRPr lang="en-US" sz="4050" dirty="0"/>
          </a:p>
        </p:txBody>
      </p:sp>
      <p:sp>
        <p:nvSpPr>
          <p:cNvPr id="23" name="Text 21"/>
          <p:cNvSpPr/>
          <p:nvPr/>
        </p:nvSpPr>
        <p:spPr>
          <a:xfrm>
            <a:off x="1131570" y="5837277"/>
            <a:ext cx="529179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C112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apenas ~3% recompram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6426161" y="4328755"/>
            <a:ext cx="5435561" cy="2312313"/>
          </a:xfrm>
          <a:prstGeom prst="roundRect">
            <a:avLst>
              <a:gd name="adj" fmla="val 6591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19531" y="4911447"/>
            <a:ext cx="533370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VENDEDORES ATIVOS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9531" y="5174337"/>
            <a:ext cx="533370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3.095</a:t>
            </a:r>
            <a:endParaRPr lang="en-US" sz="4050" dirty="0"/>
          </a:p>
        </p:txBody>
      </p:sp>
      <p:sp>
        <p:nvSpPr>
          <p:cNvPr id="27" name="Text 25"/>
          <p:cNvSpPr/>
          <p:nvPr/>
        </p:nvSpPr>
        <p:spPr>
          <a:xfrm>
            <a:off x="6719531" y="5837277"/>
            <a:ext cx="533370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base pulverizada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2052221" y="4328755"/>
            <a:ext cx="5435561" cy="2312313"/>
          </a:xfrm>
          <a:prstGeom prst="roundRect">
            <a:avLst>
              <a:gd name="adj" fmla="val 6591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345591" y="4911447"/>
            <a:ext cx="533370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NOTA MÉDIA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5591" y="5174337"/>
            <a:ext cx="533370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4,09 </a:t>
            </a:r>
            <a:r>
              <a:rPr lang="en-US" sz="2250" b="1" kern="0" spc="-112" dirty="0">
                <a:solidFill>
                  <a:srgbClr val="9AA8B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/5</a:t>
            </a:r>
            <a:endParaRPr lang="en-US" sz="4050" dirty="0"/>
          </a:p>
        </p:txBody>
      </p:sp>
      <p:sp>
        <p:nvSpPr>
          <p:cNvPr id="31" name="Text 29"/>
          <p:cNvSpPr/>
          <p:nvPr/>
        </p:nvSpPr>
        <p:spPr>
          <a:xfrm>
            <a:off x="12345591" y="5837277"/>
            <a:ext cx="533370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77% das notas são 4 ou 5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800100" y="6831568"/>
            <a:ext cx="5435561" cy="2312432"/>
          </a:xfrm>
          <a:prstGeom prst="roundRect">
            <a:avLst>
              <a:gd name="adj" fmla="val 6590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93470" y="7414379"/>
            <a:ext cx="533370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TEMPO DE ENTREGA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3470" y="7677269"/>
            <a:ext cx="533370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12,6 dias</a:t>
            </a:r>
            <a:endParaRPr lang="en-US" sz="4050" dirty="0"/>
          </a:p>
        </p:txBody>
      </p:sp>
      <p:sp>
        <p:nvSpPr>
          <p:cNvPr id="35" name="Text 33"/>
          <p:cNvSpPr/>
          <p:nvPr/>
        </p:nvSpPr>
        <p:spPr>
          <a:xfrm>
            <a:off x="1093470" y="8340209"/>
            <a:ext cx="533370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mediana de 10,2 dias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6426161" y="6831568"/>
            <a:ext cx="5435561" cy="2312432"/>
          </a:xfrm>
          <a:prstGeom prst="roundRect">
            <a:avLst>
              <a:gd name="adj" fmla="val 6590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19531" y="7414379"/>
            <a:ext cx="533370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PEDIDOS NO PRAZO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19531" y="7677269"/>
            <a:ext cx="533370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~92%</a:t>
            </a:r>
            <a:endParaRPr lang="en-US" sz="4050" dirty="0"/>
          </a:p>
        </p:txBody>
      </p:sp>
      <p:sp>
        <p:nvSpPr>
          <p:cNvPr id="39" name="Text 37"/>
          <p:cNvSpPr/>
          <p:nvPr/>
        </p:nvSpPr>
        <p:spPr>
          <a:xfrm>
            <a:off x="6719531" y="8340209"/>
            <a:ext cx="533370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atraso é o maior driver de nota baixa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12052221" y="6831568"/>
            <a:ext cx="5435561" cy="2312432"/>
          </a:xfrm>
          <a:prstGeom prst="roundRect">
            <a:avLst>
              <a:gd name="adj" fmla="val 6590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2052221" y="9136380"/>
            <a:ext cx="5435561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2" name="Shape 40"/>
          <p:cNvSpPr/>
          <p:nvPr/>
        </p:nvSpPr>
        <p:spPr>
          <a:xfrm>
            <a:off x="12052221" y="6831568"/>
            <a:ext cx="5435561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3" name="Shape 41"/>
          <p:cNvSpPr/>
          <p:nvPr/>
        </p:nvSpPr>
        <p:spPr>
          <a:xfrm>
            <a:off x="12052221" y="6831568"/>
            <a:ext cx="45720" cy="2312432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4" name="Shape 42"/>
          <p:cNvSpPr/>
          <p:nvPr/>
        </p:nvSpPr>
        <p:spPr>
          <a:xfrm>
            <a:off x="17480162" y="6831568"/>
            <a:ext cx="9525" cy="2312432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5" name="Text 43"/>
          <p:cNvSpPr/>
          <p:nvPr/>
        </p:nvSpPr>
        <p:spPr>
          <a:xfrm>
            <a:off x="12383691" y="7414379"/>
            <a:ext cx="529179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CONCENTRAÇÃO GEOGRÁFICA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383691" y="7677269"/>
            <a:ext cx="529179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12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66%</a:t>
            </a:r>
            <a:endParaRPr lang="en-US" sz="4050" dirty="0"/>
          </a:p>
        </p:txBody>
      </p:sp>
      <p:sp>
        <p:nvSpPr>
          <p:cNvPr id="47" name="Text 45"/>
          <p:cNvSpPr/>
          <p:nvPr/>
        </p:nvSpPr>
        <p:spPr>
          <a:xfrm>
            <a:off x="12383691" y="8340209"/>
            <a:ext cx="529179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C112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SP + RJ + MG da receita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800100" y="94297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" y="9608820"/>
            <a:ext cx="308562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Tech Challenge — Fase 1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13777913" y="9608820"/>
            <a:ext cx="40809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Consolidado de todas as trilhas · 03 / 24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477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LEITURA PARA A DIRETORIA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1002030"/>
            <a:ext cx="1835658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50" b="1" kern="0" spc="-37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Três mensagens centrais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800100" y="1959292"/>
            <a:ext cx="5372100" cy="228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" y="2267903"/>
            <a:ext cx="59093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b="1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800100" y="3087053"/>
            <a:ext cx="5533263" cy="779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Crescimento real, mas em desaceleração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800100" y="4019312"/>
            <a:ext cx="5533263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FFFFFF">
                    <a:alpha val="74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receita cresceu de forma consistente entre 2017 e 2018, mas a taxa mês a mês converge — a expansão por aquisição começa a perder fôlego.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6457950" y="1959292"/>
            <a:ext cx="5372100" cy="228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6457950" y="2267903"/>
            <a:ext cx="59093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b="1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6457950" y="3087053"/>
            <a:ext cx="5533263" cy="779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Logística é o principal driver — e o maior risco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6457950" y="4019312"/>
            <a:ext cx="5533263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FFFFFF">
                    <a:alpha val="74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Atraso na entrega é o fator com maior correlação negativa com a nota. Norte e Nordeste têm prazos até 3× maiores que São Paulo.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2115800" y="1959292"/>
            <a:ext cx="5372100" cy="228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12115800" y="2267903"/>
            <a:ext cx="590931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b="1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12115800" y="3087053"/>
            <a:ext cx="5533263" cy="779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Retenção é a oportunidade não explorada</a:t>
            </a:r>
            <a:endParaRPr lang="en-US" sz="2475" dirty="0"/>
          </a:p>
        </p:txBody>
      </p:sp>
      <p:sp>
        <p:nvSpPr>
          <p:cNvPr id="15" name="Text 13"/>
          <p:cNvSpPr/>
          <p:nvPr/>
        </p:nvSpPr>
        <p:spPr>
          <a:xfrm>
            <a:off x="12115800" y="4019312"/>
            <a:ext cx="5533263" cy="99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FFFFFF">
                    <a:alpha val="74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 apenas 3% de recompra, cada real de aquisição rende uma única transação. CRM e fidelização impactam diretamente a rentabilidade por cliente.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800100" y="9429750"/>
            <a:ext cx="166878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9608820"/>
            <a:ext cx="308562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FFFFFF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Tech Challenge — Fase 1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854488" y="96088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FFFFFF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24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11780"/>
            <a:ext cx="180213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000" b="1" kern="0" spc="-450" dirty="0">
                <a:solidFill>
                  <a:srgbClr val="F18F01">
                    <a:alpha val="16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4431030"/>
            <a:ext cx="180213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7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48768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Crescimento e receita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52500" y="5924550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2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Como pedidos, receita e ticket médio evoluíram — e quais categorias, regiões e vendedores sustentam o resultado.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7239000"/>
            <a:ext cx="179165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Evolução mensal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962275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451860" y="7239000"/>
            <a:ext cx="105346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Ano a ano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4810125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299710" y="7239000"/>
            <a:ext cx="11620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Categorias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6766560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256145" y="7239000"/>
            <a:ext cx="105346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Geografia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01 · CRESCIMENTO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Evolução mensal de receita e pedidos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 ~R$ 112 mil/mês (jan/2017) a um patamar acima de R$ 700 mil — com pico de Black Friday em novembro/2017.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16687800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2520" y="228504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B3B6F"/>
          </a:solidFill>
          <a:ln/>
        </p:spPr>
      </p:sp>
      <p:sp>
        <p:nvSpPr>
          <p:cNvPr id="7" name="Text 5"/>
          <p:cNvSpPr/>
          <p:nvPr/>
        </p:nvSpPr>
        <p:spPr>
          <a:xfrm>
            <a:off x="1341120" y="2254567"/>
            <a:ext cx="2067997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Receita mensal (produto)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99617" y="2346960"/>
            <a:ext cx="209550" cy="28575"/>
          </a:xfrm>
          <a:prstGeom prst="roundRect">
            <a:avLst>
              <a:gd name="adj" fmla="val 50000"/>
            </a:avLst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3885367" y="2254567"/>
            <a:ext cx="119098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Nº de pedidos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80572" y="2601278"/>
            <a:ext cx="1205389" cy="217170"/>
          </a:xfrm>
          <a:prstGeom prst="roundRect">
            <a:avLst>
              <a:gd name="adj" fmla="val 50000"/>
            </a:avLst>
          </a:prstGeom>
          <a:solidFill>
            <a:srgbClr val="F18F01"/>
          </a:solidFill>
          <a:ln/>
        </p:spPr>
      </p:sp>
      <p:sp>
        <p:nvSpPr>
          <p:cNvPr id="11" name="Text 9"/>
          <p:cNvSpPr/>
          <p:nvPr/>
        </p:nvSpPr>
        <p:spPr>
          <a:xfrm>
            <a:off x="8466297" y="2629853"/>
            <a:ext cx="1110139" cy="1981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▲ Black Friday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1112520" y="7697629"/>
            <a:ext cx="748784" cy="874871"/>
          </a:xfrm>
          <a:prstGeom prst="roundRect">
            <a:avLst>
              <a:gd name="adj" fmla="val 5088"/>
            </a:avLst>
          </a:prstGeom>
          <a:solidFill>
            <a:srgbClr val="1B3B6F"/>
          </a:solidFill>
          <a:ln/>
        </p:spPr>
      </p:sp>
      <p:sp>
        <p:nvSpPr>
          <p:cNvPr id="13" name="Shape 11"/>
          <p:cNvSpPr/>
          <p:nvPr/>
        </p:nvSpPr>
        <p:spPr>
          <a:xfrm>
            <a:off x="1918454" y="7280910"/>
            <a:ext cx="748903" cy="1291590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14" name="Shape 12"/>
          <p:cNvSpPr/>
          <p:nvPr/>
        </p:nvSpPr>
        <p:spPr>
          <a:xfrm>
            <a:off x="2724507" y="6614279"/>
            <a:ext cx="748784" cy="1958221"/>
          </a:xfrm>
          <a:prstGeom prst="roundRect">
            <a:avLst>
              <a:gd name="adj" fmla="val 5088"/>
            </a:avLst>
          </a:prstGeom>
          <a:solidFill>
            <a:srgbClr val="1B3B6F"/>
          </a:solidFill>
          <a:ln/>
        </p:spPr>
      </p:sp>
      <p:sp>
        <p:nvSpPr>
          <p:cNvPr id="15" name="Shape 13"/>
          <p:cNvSpPr/>
          <p:nvPr/>
        </p:nvSpPr>
        <p:spPr>
          <a:xfrm>
            <a:off x="3530441" y="6691670"/>
            <a:ext cx="748903" cy="1880830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16" name="Shape 14"/>
          <p:cNvSpPr/>
          <p:nvPr/>
        </p:nvSpPr>
        <p:spPr>
          <a:xfrm>
            <a:off x="4336494" y="5989320"/>
            <a:ext cx="748784" cy="2583180"/>
          </a:xfrm>
          <a:prstGeom prst="roundRect">
            <a:avLst>
              <a:gd name="adj" fmla="val 5088"/>
            </a:avLst>
          </a:prstGeom>
          <a:solidFill>
            <a:srgbClr val="1B3B6F"/>
          </a:solidFill>
          <a:ln/>
        </p:spPr>
      </p:sp>
      <p:sp>
        <p:nvSpPr>
          <p:cNvPr id="17" name="Shape 15"/>
          <p:cNvSpPr/>
          <p:nvPr/>
        </p:nvSpPr>
        <p:spPr>
          <a:xfrm>
            <a:off x="5142429" y="6298882"/>
            <a:ext cx="748903" cy="2273617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8482" y="5828586"/>
            <a:ext cx="748784" cy="2743914"/>
          </a:xfrm>
          <a:prstGeom prst="roundRect">
            <a:avLst>
              <a:gd name="adj" fmla="val 5088"/>
            </a:avLst>
          </a:prstGeom>
          <a:solidFill>
            <a:srgbClr val="1B3B6F"/>
          </a:solidFill>
          <a:ln/>
        </p:spPr>
      </p:sp>
      <p:sp>
        <p:nvSpPr>
          <p:cNvPr id="19" name="Shape 17"/>
          <p:cNvSpPr/>
          <p:nvPr/>
        </p:nvSpPr>
        <p:spPr>
          <a:xfrm>
            <a:off x="6754416" y="5596414"/>
            <a:ext cx="748903" cy="2976086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20" name="Shape 18"/>
          <p:cNvSpPr/>
          <p:nvPr/>
        </p:nvSpPr>
        <p:spPr>
          <a:xfrm>
            <a:off x="7560469" y="5281017"/>
            <a:ext cx="748784" cy="3291483"/>
          </a:xfrm>
          <a:prstGeom prst="roundRect">
            <a:avLst>
              <a:gd name="adj" fmla="val 5088"/>
            </a:avLst>
          </a:prstGeom>
          <a:solidFill>
            <a:srgbClr val="1B3B6F"/>
          </a:solidFill>
          <a:ln/>
        </p:spPr>
      </p:sp>
      <p:sp>
        <p:nvSpPr>
          <p:cNvPr id="21" name="Shape 19"/>
          <p:cNvSpPr/>
          <p:nvPr/>
        </p:nvSpPr>
        <p:spPr>
          <a:xfrm>
            <a:off x="8366403" y="4971455"/>
            <a:ext cx="748903" cy="3601045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22" name="Shape 20"/>
          <p:cNvSpPr/>
          <p:nvPr/>
        </p:nvSpPr>
        <p:spPr>
          <a:xfrm>
            <a:off x="9172456" y="2935843"/>
            <a:ext cx="748784" cy="5636657"/>
          </a:xfrm>
          <a:prstGeom prst="roundRect">
            <a:avLst>
              <a:gd name="adj" fmla="val 5088"/>
            </a:avLst>
          </a:prstGeom>
          <a:solidFill>
            <a:srgbClr val="264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9978390" y="4031099"/>
            <a:ext cx="748903" cy="4541401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84443" y="3715583"/>
            <a:ext cx="748784" cy="4856917"/>
          </a:xfrm>
          <a:prstGeom prst="roundRect">
            <a:avLst>
              <a:gd name="adj" fmla="val 5088"/>
            </a:avLst>
          </a:prstGeom>
          <a:solidFill>
            <a:srgbClr val="1B3B6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90377" y="4031099"/>
            <a:ext cx="748903" cy="4541401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26" name="Shape 24"/>
          <p:cNvSpPr/>
          <p:nvPr/>
        </p:nvSpPr>
        <p:spPr>
          <a:xfrm>
            <a:off x="12396431" y="2935843"/>
            <a:ext cx="748784" cy="5636657"/>
          </a:xfrm>
          <a:prstGeom prst="roundRect">
            <a:avLst>
              <a:gd name="adj" fmla="val 5088"/>
            </a:avLst>
          </a:prstGeom>
          <a:solidFill>
            <a:srgbClr val="1B3B6F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02365" y="2620328"/>
            <a:ext cx="748903" cy="5952173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28" name="Shape 26"/>
          <p:cNvSpPr/>
          <p:nvPr/>
        </p:nvSpPr>
        <p:spPr>
          <a:xfrm>
            <a:off x="14008418" y="2620328"/>
            <a:ext cx="748903" cy="5952173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29" name="Shape 27"/>
          <p:cNvSpPr/>
          <p:nvPr/>
        </p:nvSpPr>
        <p:spPr>
          <a:xfrm>
            <a:off x="14814471" y="3245406"/>
            <a:ext cx="748903" cy="5327095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30" name="Shape 28"/>
          <p:cNvSpPr/>
          <p:nvPr/>
        </p:nvSpPr>
        <p:spPr>
          <a:xfrm>
            <a:off x="15620524" y="2935843"/>
            <a:ext cx="748903" cy="5636657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sp>
        <p:nvSpPr>
          <p:cNvPr id="31" name="Shape 29"/>
          <p:cNvSpPr/>
          <p:nvPr/>
        </p:nvSpPr>
        <p:spPr>
          <a:xfrm>
            <a:off x="16426578" y="3090624"/>
            <a:ext cx="748903" cy="5481876"/>
          </a:xfrm>
          <a:prstGeom prst="roundRect">
            <a:avLst>
              <a:gd name="adj" fmla="val 5087"/>
            </a:avLst>
          </a:prstGeom>
          <a:solidFill>
            <a:srgbClr val="1B3B6F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520" y="2620328"/>
            <a:ext cx="16062960" cy="595217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74420" y="8667750"/>
            <a:ext cx="8249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880354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fev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2686407" y="8667750"/>
            <a:ext cx="8249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492341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298394" y="8667750"/>
            <a:ext cx="8249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104329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910382" y="8667750"/>
            <a:ext cx="8249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jul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716316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ago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522369" y="8667750"/>
            <a:ext cx="8249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328303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134356" y="8667750"/>
            <a:ext cx="8249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nov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9940290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dez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746343" y="8667750"/>
            <a:ext cx="8249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552277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fev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2358331" y="8667750"/>
            <a:ext cx="82498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3164265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abr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3970318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4776371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5582424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jul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6388478" y="8667750"/>
            <a:ext cx="82510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ago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1112520" y="8869680"/>
            <a:ext cx="9603462" cy="15240"/>
          </a:xfrm>
          <a:prstGeom prst="rect">
            <a:avLst/>
          </a:prstGeom>
          <a:solidFill>
            <a:srgbClr val="D7E0EC"/>
          </a:solidFill>
          <a:ln/>
        </p:spPr>
      </p:sp>
      <p:sp>
        <p:nvSpPr>
          <p:cNvPr id="54" name="Text 51"/>
          <p:cNvSpPr/>
          <p:nvPr/>
        </p:nvSpPr>
        <p:spPr>
          <a:xfrm>
            <a:off x="968468" y="8942070"/>
            <a:ext cx="989156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2017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0773132" y="8869680"/>
            <a:ext cx="6402348" cy="15240"/>
          </a:xfrm>
          <a:prstGeom prst="rect">
            <a:avLst/>
          </a:prstGeom>
          <a:solidFill>
            <a:srgbClr val="D7E0EC"/>
          </a:solidFill>
          <a:ln/>
        </p:spPr>
      </p:sp>
      <p:sp>
        <p:nvSpPr>
          <p:cNvPr id="56" name="Text 53"/>
          <p:cNvSpPr/>
          <p:nvPr/>
        </p:nvSpPr>
        <p:spPr>
          <a:xfrm>
            <a:off x="10677097" y="8942070"/>
            <a:ext cx="659441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2018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5"/>
          <p:cNvSpPr/>
          <p:nvPr/>
        </p:nvSpPr>
        <p:spPr>
          <a:xfrm>
            <a:off x="800100" y="9646920"/>
            <a:ext cx="477774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Janela: jan/2017 – ago/2018 (20 meses completos)</a:t>
            </a:r>
            <a:endParaRPr lang="en-US" sz="1125" dirty="0"/>
          </a:p>
        </p:txBody>
      </p:sp>
      <p:sp>
        <p:nvSpPr>
          <p:cNvPr id="59" name="Text 56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24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01 · CRESCIMENTO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Crescimento ano a ano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4716125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Forte salto de 2017 para 2018 nos mesmos meses — mas a magnitude do crescimento desacelera: a curva em "S" está amadurecendo.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2307908"/>
            <a:ext cx="11802070" cy="7026593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2520" y="259365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ECAE6"/>
          </a:solidFill>
          <a:ln/>
        </p:spPr>
      </p:sp>
      <p:sp>
        <p:nvSpPr>
          <p:cNvPr id="7" name="Text 5"/>
          <p:cNvSpPr/>
          <p:nvPr/>
        </p:nvSpPr>
        <p:spPr>
          <a:xfrm>
            <a:off x="1341120" y="2563178"/>
            <a:ext cx="47934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2017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010966" y="259365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B3B6F"/>
          </a:solidFill>
          <a:ln/>
        </p:spPr>
      </p:sp>
      <p:sp>
        <p:nvSpPr>
          <p:cNvPr id="9" name="Text 7"/>
          <p:cNvSpPr/>
          <p:nvPr/>
        </p:nvSpPr>
        <p:spPr>
          <a:xfrm>
            <a:off x="2239566" y="2563178"/>
            <a:ext cx="49113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2018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88256" y="7974092"/>
            <a:ext cx="423982" cy="872728"/>
          </a:xfrm>
          <a:prstGeom prst="roundRect">
            <a:avLst>
              <a:gd name="adj" fmla="val 6740"/>
            </a:avLst>
          </a:prstGeom>
          <a:solidFill>
            <a:srgbClr val="8ECAE6"/>
          </a:solidFill>
          <a:ln/>
        </p:spPr>
      </p:sp>
      <p:sp>
        <p:nvSpPr>
          <p:cNvPr id="11" name="Shape 9"/>
          <p:cNvSpPr/>
          <p:nvPr/>
        </p:nvSpPr>
        <p:spPr>
          <a:xfrm>
            <a:off x="1759863" y="4002286"/>
            <a:ext cx="423982" cy="4844534"/>
          </a:xfrm>
          <a:prstGeom prst="roundRect">
            <a:avLst>
              <a:gd name="adj" fmla="val 6740"/>
            </a:avLst>
          </a:prstGeom>
          <a:solidFill>
            <a:srgbClr val="1B3B6F"/>
          </a:solidFill>
          <a:ln/>
        </p:spPr>
      </p:sp>
      <p:sp>
        <p:nvSpPr>
          <p:cNvPr id="12" name="Shape 10"/>
          <p:cNvSpPr/>
          <p:nvPr/>
        </p:nvSpPr>
        <p:spPr>
          <a:xfrm>
            <a:off x="2706767" y="7558564"/>
            <a:ext cx="423982" cy="1288256"/>
          </a:xfrm>
          <a:prstGeom prst="roundRect">
            <a:avLst>
              <a:gd name="adj" fmla="val 6740"/>
            </a:avLst>
          </a:prstGeom>
          <a:solidFill>
            <a:srgbClr val="8ECAE6"/>
          </a:solidFill>
          <a:ln/>
        </p:spPr>
      </p:sp>
      <p:sp>
        <p:nvSpPr>
          <p:cNvPr id="13" name="Shape 11"/>
          <p:cNvSpPr/>
          <p:nvPr/>
        </p:nvSpPr>
        <p:spPr>
          <a:xfrm>
            <a:off x="3178373" y="4316968"/>
            <a:ext cx="423982" cy="4529852"/>
          </a:xfrm>
          <a:prstGeom prst="roundRect">
            <a:avLst>
              <a:gd name="adj" fmla="val 6740"/>
            </a:avLst>
          </a:prstGeom>
          <a:solidFill>
            <a:srgbClr val="1B3B6F"/>
          </a:solidFill>
          <a:ln/>
        </p:spPr>
      </p:sp>
      <p:sp>
        <p:nvSpPr>
          <p:cNvPr id="14" name="Shape 12"/>
          <p:cNvSpPr/>
          <p:nvPr/>
        </p:nvSpPr>
        <p:spPr>
          <a:xfrm>
            <a:off x="4125397" y="6893600"/>
            <a:ext cx="423982" cy="1953220"/>
          </a:xfrm>
          <a:prstGeom prst="roundRect">
            <a:avLst>
              <a:gd name="adj" fmla="val 6740"/>
            </a:avLst>
          </a:prstGeom>
          <a:solidFill>
            <a:srgbClr val="8ECAE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7003" y="3224570"/>
            <a:ext cx="423982" cy="5622250"/>
          </a:xfrm>
          <a:prstGeom prst="roundRect">
            <a:avLst>
              <a:gd name="adj" fmla="val 6740"/>
            </a:avLst>
          </a:prstGeom>
          <a:solidFill>
            <a:srgbClr val="1B3B6F"/>
          </a:solidFill>
          <a:ln/>
        </p:spPr>
      </p:sp>
      <p:sp>
        <p:nvSpPr>
          <p:cNvPr id="16" name="Shape 14"/>
          <p:cNvSpPr/>
          <p:nvPr/>
        </p:nvSpPr>
        <p:spPr>
          <a:xfrm>
            <a:off x="5543908" y="6970752"/>
            <a:ext cx="423982" cy="1876068"/>
          </a:xfrm>
          <a:prstGeom prst="roundRect">
            <a:avLst>
              <a:gd name="adj" fmla="val 6740"/>
            </a:avLst>
          </a:prstGeom>
          <a:solidFill>
            <a:srgbClr val="8ECAE6"/>
          </a:solidFill>
          <a:ln/>
        </p:spPr>
      </p:sp>
      <p:sp>
        <p:nvSpPr>
          <p:cNvPr id="17" name="Shape 15"/>
          <p:cNvSpPr/>
          <p:nvPr/>
        </p:nvSpPr>
        <p:spPr>
          <a:xfrm>
            <a:off x="6015514" y="2909888"/>
            <a:ext cx="423982" cy="5936932"/>
          </a:xfrm>
          <a:prstGeom prst="roundRect">
            <a:avLst>
              <a:gd name="adj" fmla="val 6740"/>
            </a:avLst>
          </a:prstGeom>
          <a:solidFill>
            <a:srgbClr val="1B3B6F"/>
          </a:solidFill>
          <a:ln/>
        </p:spPr>
      </p:sp>
      <p:sp>
        <p:nvSpPr>
          <p:cNvPr id="18" name="Shape 16"/>
          <p:cNvSpPr/>
          <p:nvPr/>
        </p:nvSpPr>
        <p:spPr>
          <a:xfrm>
            <a:off x="6962537" y="6270307"/>
            <a:ext cx="423982" cy="2576513"/>
          </a:xfrm>
          <a:prstGeom prst="roundRect">
            <a:avLst>
              <a:gd name="adj" fmla="val 6740"/>
            </a:avLst>
          </a:prstGeom>
          <a:solidFill>
            <a:srgbClr val="8ECAE6"/>
          </a:solidFill>
          <a:ln/>
        </p:spPr>
      </p:sp>
      <p:sp>
        <p:nvSpPr>
          <p:cNvPr id="19" name="Shape 17"/>
          <p:cNvSpPr/>
          <p:nvPr/>
        </p:nvSpPr>
        <p:spPr>
          <a:xfrm>
            <a:off x="7434143" y="2909888"/>
            <a:ext cx="423982" cy="5936932"/>
          </a:xfrm>
          <a:prstGeom prst="roundRect">
            <a:avLst>
              <a:gd name="adj" fmla="val 6740"/>
            </a:avLst>
          </a:prstGeom>
          <a:solidFill>
            <a:srgbClr val="1B3B6F"/>
          </a:solidFill>
          <a:ln/>
        </p:spPr>
      </p:sp>
      <p:sp>
        <p:nvSpPr>
          <p:cNvPr id="20" name="Shape 18"/>
          <p:cNvSpPr/>
          <p:nvPr/>
        </p:nvSpPr>
        <p:spPr>
          <a:xfrm>
            <a:off x="8381048" y="6578918"/>
            <a:ext cx="423982" cy="2267903"/>
          </a:xfrm>
          <a:prstGeom prst="roundRect">
            <a:avLst>
              <a:gd name="adj" fmla="val 6740"/>
            </a:avLst>
          </a:prstGeom>
          <a:solidFill>
            <a:srgbClr val="8ECAE6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2654" y="3533299"/>
            <a:ext cx="423982" cy="5313522"/>
          </a:xfrm>
          <a:prstGeom prst="roundRect">
            <a:avLst>
              <a:gd name="adj" fmla="val 6740"/>
            </a:avLst>
          </a:prstGeom>
          <a:solidFill>
            <a:srgbClr val="1B3B6F"/>
          </a:solidFill>
          <a:ln/>
        </p:spPr>
      </p:sp>
      <p:sp>
        <p:nvSpPr>
          <p:cNvPr id="22" name="Shape 20"/>
          <p:cNvSpPr/>
          <p:nvPr/>
        </p:nvSpPr>
        <p:spPr>
          <a:xfrm>
            <a:off x="9799677" y="6109931"/>
            <a:ext cx="423982" cy="2736890"/>
          </a:xfrm>
          <a:prstGeom prst="roundRect">
            <a:avLst>
              <a:gd name="adj" fmla="val 6740"/>
            </a:avLst>
          </a:prstGeom>
          <a:solidFill>
            <a:srgbClr val="8ECAE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71284" y="3224570"/>
            <a:ext cx="423982" cy="5622250"/>
          </a:xfrm>
          <a:prstGeom prst="roundRect">
            <a:avLst>
              <a:gd name="adj" fmla="val 6740"/>
            </a:avLst>
          </a:prstGeom>
          <a:solidFill>
            <a:srgbClr val="1B3B6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18307" y="5878354"/>
            <a:ext cx="423982" cy="2968466"/>
          </a:xfrm>
          <a:prstGeom prst="roundRect">
            <a:avLst>
              <a:gd name="adj" fmla="val 6740"/>
            </a:avLst>
          </a:prstGeom>
          <a:solidFill>
            <a:srgbClr val="8ECAE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89913" y="3378994"/>
            <a:ext cx="423982" cy="5467826"/>
          </a:xfrm>
          <a:prstGeom prst="roundRect">
            <a:avLst>
              <a:gd name="adj" fmla="val 6740"/>
            </a:avLst>
          </a:prstGeom>
          <a:solidFill>
            <a:srgbClr val="1B3B6F"/>
          </a:solidFill>
          <a:ln/>
        </p:spPr>
      </p:sp>
      <p:sp>
        <p:nvSpPr>
          <p:cNvPr id="26" name="Text 24"/>
          <p:cNvSpPr/>
          <p:nvPr/>
        </p:nvSpPr>
        <p:spPr>
          <a:xfrm>
            <a:off x="1050167" y="8942070"/>
            <a:ext cx="137176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68672" y="8942070"/>
            <a:ext cx="137189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87307" y="8942070"/>
            <a:ext cx="137176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5812" y="8942070"/>
            <a:ext cx="137189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4448" y="8942070"/>
            <a:ext cx="137176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42952" y="8942070"/>
            <a:ext cx="137189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561582" y="8942070"/>
            <a:ext cx="137189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80212" y="8942070"/>
            <a:ext cx="137189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2830770" y="2307908"/>
            <a:ext cx="4657130" cy="3410426"/>
          </a:xfrm>
          <a:prstGeom prst="roundRect">
            <a:avLst>
              <a:gd name="adj" fmla="val 4469"/>
            </a:avLst>
          </a:prstGeom>
          <a:solidFill>
            <a:srgbClr val="1B3B6F"/>
          </a:solidFill>
          <a:ln/>
        </p:spPr>
      </p:sp>
      <p:sp>
        <p:nvSpPr>
          <p:cNvPr id="35" name="Text 33"/>
          <p:cNvSpPr/>
          <p:nvPr/>
        </p:nvSpPr>
        <p:spPr>
          <a:xfrm>
            <a:off x="13135570" y="3312081"/>
            <a:ext cx="445228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RECEITA MENSAL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135570" y="3613071"/>
            <a:ext cx="4168956" cy="83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R$ 112 mil </a:t>
            </a:r>
            <a:r>
              <a:rPr lang="en-US" sz="2850" b="1" dirty="0">
                <a:solidFill>
                  <a:srgbClr val="8ECAE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→ </a:t>
            </a:r>
            <a:r>
              <a:rPr lang="en-US" sz="28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R$ 700+ mil</a:t>
            </a:r>
            <a:endParaRPr lang="en-US" sz="2850" dirty="0"/>
          </a:p>
        </p:txBody>
      </p:sp>
      <p:sp>
        <p:nvSpPr>
          <p:cNvPr id="37" name="Text 35"/>
          <p:cNvSpPr/>
          <p:nvPr/>
        </p:nvSpPr>
        <p:spPr>
          <a:xfrm>
            <a:off x="13135570" y="4485561"/>
            <a:ext cx="44522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 jan/2017 ao patamar de 2018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2830770" y="5908834"/>
            <a:ext cx="4657130" cy="3425666"/>
          </a:xfrm>
          <a:prstGeom prst="roundRect">
            <a:avLst>
              <a:gd name="adj" fmla="val 4449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2830770" y="9326880"/>
            <a:ext cx="4657130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0" name="Shape 38"/>
          <p:cNvSpPr/>
          <p:nvPr/>
        </p:nvSpPr>
        <p:spPr>
          <a:xfrm>
            <a:off x="12830770" y="5908834"/>
            <a:ext cx="4657130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1" name="Shape 39"/>
          <p:cNvSpPr/>
          <p:nvPr/>
        </p:nvSpPr>
        <p:spPr>
          <a:xfrm>
            <a:off x="12830770" y="5908834"/>
            <a:ext cx="45720" cy="342566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42" name="Shape 40"/>
          <p:cNvSpPr/>
          <p:nvPr/>
        </p:nvSpPr>
        <p:spPr>
          <a:xfrm>
            <a:off x="17480280" y="5908834"/>
            <a:ext cx="9525" cy="3425666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3" name="Text 41"/>
          <p:cNvSpPr/>
          <p:nvPr/>
        </p:nvSpPr>
        <p:spPr>
          <a:xfrm>
            <a:off x="13181291" y="7006828"/>
            <a:ext cx="439360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SINAL DE ALERTA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3181291" y="7307818"/>
            <a:ext cx="4114015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 crescimento por aquisição perde fôlego — retenção vira a próxima alavanca.</a:t>
            </a:r>
            <a:endParaRPr lang="en-US" sz="1875" dirty="0"/>
          </a:p>
        </p:txBody>
      </p:sp>
      <p:sp>
        <p:nvSpPr>
          <p:cNvPr id="45" name="Shape 43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" y="9646920"/>
            <a:ext cx="418052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Comparação YoY · meses comparáveis jan–ago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24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01 · MIX DE RECEITA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Concentração por categoria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71 categorias ativas, mas poucas âncoras puxam o resultado — cerca de 12 já somam ~80% da receita.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16687800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0620" y="228504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B3B6F"/>
          </a:solidFill>
          <a:ln/>
        </p:spPr>
      </p:sp>
      <p:sp>
        <p:nvSpPr>
          <p:cNvPr id="7" name="Text 5"/>
          <p:cNvSpPr/>
          <p:nvPr/>
        </p:nvSpPr>
        <p:spPr>
          <a:xfrm>
            <a:off x="1379220" y="2254567"/>
            <a:ext cx="17033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Receita da categoria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73028" y="2346960"/>
            <a:ext cx="209550" cy="28575"/>
          </a:xfrm>
          <a:prstGeom prst="roundRect">
            <a:avLst>
              <a:gd name="adj" fmla="val 50000"/>
            </a:avLst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3558778" y="2254567"/>
            <a:ext cx="115109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% acumulado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00375" y="2353628"/>
            <a:ext cx="209550" cy="152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5186125" y="2254567"/>
            <a:ext cx="120848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112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linha dos 80%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50620" y="3817144"/>
            <a:ext cx="15986760" cy="15240"/>
          </a:xfrm>
          <a:prstGeom prst="rect">
            <a:avLst/>
          </a:prstGeom>
          <a:solidFill>
            <a:srgbClr val="C1121F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0620" y="2601278"/>
            <a:ext cx="1814989" cy="6079807"/>
          </a:xfrm>
          <a:prstGeom prst="roundRect">
            <a:avLst>
              <a:gd name="adj" fmla="val 2624"/>
            </a:avLst>
          </a:prstGeom>
          <a:solidFill>
            <a:srgbClr val="1B3B6F"/>
          </a:solidFill>
          <a:ln/>
        </p:spPr>
      </p:sp>
      <p:sp>
        <p:nvSpPr>
          <p:cNvPr id="14" name="Shape 12"/>
          <p:cNvSpPr/>
          <p:nvPr/>
        </p:nvSpPr>
        <p:spPr>
          <a:xfrm>
            <a:off x="3175159" y="3154561"/>
            <a:ext cx="1814989" cy="5526524"/>
          </a:xfrm>
          <a:prstGeom prst="roundRect">
            <a:avLst>
              <a:gd name="adj" fmla="val 2624"/>
            </a:avLst>
          </a:prstGeom>
          <a:solidFill>
            <a:srgbClr val="1B3B6F"/>
          </a:solidFill>
          <a:ln/>
        </p:spPr>
      </p:sp>
      <p:sp>
        <p:nvSpPr>
          <p:cNvPr id="15" name="Shape 13"/>
          <p:cNvSpPr/>
          <p:nvPr/>
        </p:nvSpPr>
        <p:spPr>
          <a:xfrm>
            <a:off x="5199698" y="3428167"/>
            <a:ext cx="1814989" cy="5252918"/>
          </a:xfrm>
          <a:prstGeom prst="roundRect">
            <a:avLst>
              <a:gd name="adj" fmla="val 2624"/>
            </a:avLst>
          </a:prstGeom>
          <a:solidFill>
            <a:srgbClr val="1B3B6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4236" y="4261128"/>
            <a:ext cx="1814989" cy="4419957"/>
          </a:xfrm>
          <a:prstGeom prst="roundRect">
            <a:avLst>
              <a:gd name="adj" fmla="val 2624"/>
            </a:avLst>
          </a:prstGeom>
          <a:solidFill>
            <a:srgbClr val="2E86AB"/>
          </a:solidFill>
          <a:ln/>
        </p:spPr>
      </p:sp>
      <p:sp>
        <p:nvSpPr>
          <p:cNvPr id="17" name="Shape 15"/>
          <p:cNvSpPr/>
          <p:nvPr/>
        </p:nvSpPr>
        <p:spPr>
          <a:xfrm>
            <a:off x="9248775" y="5088017"/>
            <a:ext cx="1814989" cy="3593068"/>
          </a:xfrm>
          <a:prstGeom prst="roundRect">
            <a:avLst>
              <a:gd name="adj" fmla="val 2624"/>
            </a:avLst>
          </a:prstGeom>
          <a:solidFill>
            <a:srgbClr val="2E86AB"/>
          </a:solidFill>
          <a:ln/>
        </p:spPr>
      </p:sp>
      <p:sp>
        <p:nvSpPr>
          <p:cNvPr id="18" name="Shape 16"/>
          <p:cNvSpPr/>
          <p:nvPr/>
        </p:nvSpPr>
        <p:spPr>
          <a:xfrm>
            <a:off x="11273314" y="5750719"/>
            <a:ext cx="1814989" cy="2930366"/>
          </a:xfrm>
          <a:prstGeom prst="roundRect">
            <a:avLst>
              <a:gd name="adj" fmla="val 2624"/>
            </a:avLst>
          </a:prstGeom>
          <a:solidFill>
            <a:srgbClr val="2E86A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297852" y="6139815"/>
            <a:ext cx="1814989" cy="2541270"/>
          </a:xfrm>
          <a:prstGeom prst="roundRect">
            <a:avLst>
              <a:gd name="adj" fmla="val 2624"/>
            </a:avLst>
          </a:prstGeom>
          <a:solidFill>
            <a:srgbClr val="8ECAE6"/>
          </a:solidFill>
          <a:ln/>
        </p:spPr>
      </p:sp>
      <p:sp>
        <p:nvSpPr>
          <p:cNvPr id="20" name="Shape 18"/>
          <p:cNvSpPr/>
          <p:nvPr/>
        </p:nvSpPr>
        <p:spPr>
          <a:xfrm>
            <a:off x="15322391" y="6522839"/>
            <a:ext cx="1814989" cy="2158246"/>
          </a:xfrm>
          <a:prstGeom prst="roundRect">
            <a:avLst>
              <a:gd name="adj" fmla="val 2624"/>
            </a:avLst>
          </a:prstGeom>
          <a:solidFill>
            <a:srgbClr val="8ECAE6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620" y="2601278"/>
            <a:ext cx="15986760" cy="607980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12520" y="8795385"/>
            <a:ext cx="18911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health beauty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3137059" y="8795385"/>
            <a:ext cx="18911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watches gifts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5161598" y="8795385"/>
            <a:ext cx="18911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bed bath table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7186136" y="8795385"/>
            <a:ext cx="18911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sports leisure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9210675" y="8795385"/>
            <a:ext cx="18911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computers accessories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11235214" y="8795385"/>
            <a:ext cx="18911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furniture decor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13259752" y="8795385"/>
            <a:ext cx="18911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house wares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15284291" y="8795385"/>
            <a:ext cx="1891189" cy="36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auto</a:t>
            </a:r>
            <a:endParaRPr lang="en-US" sz="975" dirty="0"/>
          </a:p>
        </p:txBody>
      </p:sp>
      <p:sp>
        <p:nvSpPr>
          <p:cNvPr id="30" name="Shape 27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8"/>
          <p:cNvSpPr/>
          <p:nvPr/>
        </p:nvSpPr>
        <p:spPr>
          <a:xfrm>
            <a:off x="800100" y="9646920"/>
            <a:ext cx="477774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 8 categorias por receita · análise de Pareto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24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01 · GEOGRAFIA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Concentração geográfica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São Paulo responde por quase 40% da receita; os três maiores estados somam dois terços do total — base sólida, mas exposta.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12092464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9670" y="4007644"/>
            <a:ext cx="5905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55470" y="3990499"/>
            <a:ext cx="9829324" cy="28575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/>
        </p:spPr>
      </p:sp>
      <p:sp>
        <p:nvSpPr>
          <p:cNvPr id="8" name="Shape 6"/>
          <p:cNvSpPr/>
          <p:nvPr/>
        </p:nvSpPr>
        <p:spPr>
          <a:xfrm>
            <a:off x="1855470" y="3990499"/>
            <a:ext cx="9829324" cy="285750"/>
          </a:xfrm>
          <a:prstGeom prst="roundRect">
            <a:avLst>
              <a:gd name="adj" fmla="val 20000"/>
            </a:avLst>
          </a:prstGeom>
          <a:solidFill>
            <a:srgbClr val="1B3B6F"/>
          </a:solidFill>
          <a:ln/>
        </p:spPr>
      </p:sp>
      <p:sp>
        <p:nvSpPr>
          <p:cNvPr id="9" name="Text 7"/>
          <p:cNvSpPr/>
          <p:nvPr/>
        </p:nvSpPr>
        <p:spPr>
          <a:xfrm>
            <a:off x="11780044" y="4003834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40,0%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69670" y="4445794"/>
            <a:ext cx="5905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RJ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55470" y="4428649"/>
            <a:ext cx="9829324" cy="28575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1855470" y="4428649"/>
            <a:ext cx="3194447" cy="285750"/>
          </a:xfrm>
          <a:prstGeom prst="roundRect">
            <a:avLst>
              <a:gd name="adj" fmla="val 20000"/>
            </a:avLst>
          </a:prstGeom>
          <a:solidFill>
            <a:srgbClr val="1B3B6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80044" y="4441984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13,0%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69670" y="4883944"/>
            <a:ext cx="5905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55470" y="4866799"/>
            <a:ext cx="9829324" cy="28575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/>
        </p:spPr>
      </p:sp>
      <p:sp>
        <p:nvSpPr>
          <p:cNvPr id="16" name="Shape 14"/>
          <p:cNvSpPr/>
          <p:nvPr/>
        </p:nvSpPr>
        <p:spPr>
          <a:xfrm>
            <a:off x="1855470" y="4866799"/>
            <a:ext cx="3066693" cy="285750"/>
          </a:xfrm>
          <a:prstGeom prst="roundRect">
            <a:avLst>
              <a:gd name="adj" fmla="val 20000"/>
            </a:avLst>
          </a:prstGeom>
          <a:solidFill>
            <a:srgbClr val="1B3B6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80044" y="4880134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12,5%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69670" y="5322094"/>
            <a:ext cx="5905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55470" y="5304949"/>
            <a:ext cx="9829324" cy="28575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1855470" y="5304949"/>
            <a:ext cx="1474351" cy="28575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11780044" y="5318284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6,0%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69670" y="5760244"/>
            <a:ext cx="5905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855470" y="5743099"/>
            <a:ext cx="9829324" cy="28575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/>
        </p:spPr>
      </p:sp>
      <p:sp>
        <p:nvSpPr>
          <p:cNvPr id="24" name="Shape 22"/>
          <p:cNvSpPr/>
          <p:nvPr/>
        </p:nvSpPr>
        <p:spPr>
          <a:xfrm>
            <a:off x="1855470" y="5743099"/>
            <a:ext cx="1346597" cy="28575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/>
        </p:spPr>
      </p:sp>
      <p:sp>
        <p:nvSpPr>
          <p:cNvPr id="25" name="Text 23"/>
          <p:cNvSpPr/>
          <p:nvPr/>
        </p:nvSpPr>
        <p:spPr>
          <a:xfrm>
            <a:off x="11780044" y="5756434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5,5%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69670" y="6198394"/>
            <a:ext cx="5905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855470" y="6181249"/>
            <a:ext cx="9829324" cy="28575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/>
        </p:spPr>
      </p:sp>
      <p:sp>
        <p:nvSpPr>
          <p:cNvPr id="28" name="Shape 26"/>
          <p:cNvSpPr/>
          <p:nvPr/>
        </p:nvSpPr>
        <p:spPr>
          <a:xfrm>
            <a:off x="1855470" y="6181249"/>
            <a:ext cx="982861" cy="285750"/>
          </a:xfrm>
          <a:prstGeom prst="roundRect">
            <a:avLst>
              <a:gd name="adj" fmla="val 20000"/>
            </a:avLst>
          </a:prstGeom>
          <a:solidFill>
            <a:srgbClr val="8ECAE6"/>
          </a:solidFill>
          <a:ln/>
        </p:spPr>
      </p:sp>
      <p:sp>
        <p:nvSpPr>
          <p:cNvPr id="29" name="Text 27"/>
          <p:cNvSpPr/>
          <p:nvPr/>
        </p:nvSpPr>
        <p:spPr>
          <a:xfrm>
            <a:off x="11780044" y="6194584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4,0%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69670" y="6636544"/>
            <a:ext cx="5905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55470" y="6619399"/>
            <a:ext cx="9829324" cy="28575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/>
        </p:spPr>
      </p:sp>
      <p:sp>
        <p:nvSpPr>
          <p:cNvPr id="32" name="Shape 30"/>
          <p:cNvSpPr/>
          <p:nvPr/>
        </p:nvSpPr>
        <p:spPr>
          <a:xfrm>
            <a:off x="1855470" y="6619399"/>
            <a:ext cx="855107" cy="285750"/>
          </a:xfrm>
          <a:prstGeom prst="roundRect">
            <a:avLst>
              <a:gd name="adj" fmla="val 20000"/>
            </a:avLst>
          </a:prstGeom>
          <a:solidFill>
            <a:srgbClr val="8ECAE6"/>
          </a:solidFill>
          <a:ln/>
        </p:spPr>
      </p:sp>
      <p:sp>
        <p:nvSpPr>
          <p:cNvPr id="33" name="Text 31"/>
          <p:cNvSpPr/>
          <p:nvPr/>
        </p:nvSpPr>
        <p:spPr>
          <a:xfrm>
            <a:off x="11780044" y="6632734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3,5%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69670" y="7074694"/>
            <a:ext cx="59055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DF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855470" y="7057549"/>
            <a:ext cx="9829324" cy="285750"/>
          </a:xfrm>
          <a:prstGeom prst="roundRect">
            <a:avLst>
              <a:gd name="adj" fmla="val 20000"/>
            </a:avLst>
          </a:prstGeom>
          <a:solidFill>
            <a:srgbClr val="EEF2F7"/>
          </a:solidFill>
          <a:ln/>
        </p:spPr>
      </p:sp>
      <p:sp>
        <p:nvSpPr>
          <p:cNvPr id="36" name="Shape 34"/>
          <p:cNvSpPr/>
          <p:nvPr/>
        </p:nvSpPr>
        <p:spPr>
          <a:xfrm>
            <a:off x="1855470" y="7057549"/>
            <a:ext cx="560189" cy="285750"/>
          </a:xfrm>
          <a:prstGeom prst="roundRect">
            <a:avLst>
              <a:gd name="adj" fmla="val 20000"/>
            </a:avLst>
          </a:prstGeom>
          <a:solidFill>
            <a:srgbClr val="8ECAE6"/>
          </a:solidFill>
          <a:ln/>
        </p:spPr>
      </p:sp>
      <p:sp>
        <p:nvSpPr>
          <p:cNvPr id="37" name="Text 35"/>
          <p:cNvSpPr/>
          <p:nvPr/>
        </p:nvSpPr>
        <p:spPr>
          <a:xfrm>
            <a:off x="11780044" y="7070884"/>
            <a:ext cx="74295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2,3%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3121164" y="1999298"/>
            <a:ext cx="4366736" cy="3621881"/>
          </a:xfrm>
          <a:prstGeom prst="roundRect">
            <a:avLst>
              <a:gd name="adj" fmla="val 4208"/>
            </a:avLst>
          </a:prstGeom>
          <a:solidFill>
            <a:srgbClr val="1B3B6F"/>
          </a:solidFill>
          <a:ln/>
        </p:spPr>
      </p:sp>
      <p:sp>
        <p:nvSpPr>
          <p:cNvPr id="39" name="Text 37"/>
          <p:cNvSpPr/>
          <p:nvPr/>
        </p:nvSpPr>
        <p:spPr>
          <a:xfrm>
            <a:off x="13425964" y="3036808"/>
            <a:ext cx="41328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b="1" kern="0" spc="-225" dirty="0">
                <a:solidFill>
                  <a:srgbClr val="F18F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66%</a:t>
            </a:r>
            <a:endParaRPr lang="en-US" sz="6600" dirty="0"/>
          </a:p>
        </p:txBody>
      </p:sp>
      <p:sp>
        <p:nvSpPr>
          <p:cNvPr id="40" name="Text 38"/>
          <p:cNvSpPr/>
          <p:nvPr/>
        </p:nvSpPr>
        <p:spPr>
          <a:xfrm>
            <a:off x="13425964" y="3989308"/>
            <a:ext cx="386985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 receita em apenas três estados — SP, RJ e MG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3121164" y="5811679"/>
            <a:ext cx="4366736" cy="3522821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3121164" y="9326880"/>
            <a:ext cx="4366736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3" name="Shape 41"/>
          <p:cNvSpPr/>
          <p:nvPr/>
        </p:nvSpPr>
        <p:spPr>
          <a:xfrm>
            <a:off x="13121164" y="5811679"/>
            <a:ext cx="4366736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4" name="Shape 42"/>
          <p:cNvSpPr/>
          <p:nvPr/>
        </p:nvSpPr>
        <p:spPr>
          <a:xfrm>
            <a:off x="13121164" y="5811679"/>
            <a:ext cx="45720" cy="3522821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5" name="Shape 43"/>
          <p:cNvSpPr/>
          <p:nvPr/>
        </p:nvSpPr>
        <p:spPr>
          <a:xfrm>
            <a:off x="17480281" y="5811679"/>
            <a:ext cx="9525" cy="3522821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6" name="Text 44"/>
          <p:cNvSpPr/>
          <p:nvPr/>
        </p:nvSpPr>
        <p:spPr>
          <a:xfrm>
            <a:off x="13471684" y="6995398"/>
            <a:ext cx="4074176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RISCO · OPORTUNIDADE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471684" y="7296388"/>
            <a:ext cx="3814910" cy="892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Expansão para Norte/Nordeste é a alavanca de crescimento ainda pouco explorada.</a:t>
            </a:r>
            <a:endParaRPr lang="en-US" sz="1725" dirty="0"/>
          </a:p>
        </p:txBody>
      </p:sp>
      <p:sp>
        <p:nvSpPr>
          <p:cNvPr id="48" name="Shape 46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" y="9646920"/>
            <a:ext cx="388191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 estados por receita · UF do cliente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24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11780"/>
            <a:ext cx="180213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000" b="1" kern="0" spc="-450" dirty="0">
                <a:solidFill>
                  <a:srgbClr val="F18F01">
                    <a:alpha val="16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4431030"/>
            <a:ext cx="180213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7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48768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Logística e SLA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52500" y="5924550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2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Quanto tempo leva do pedido à entrega, como o atraso impacta a satisfação e onde está o pior desempenho logístico.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7239000"/>
            <a:ext cx="167220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Funil de tempo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853690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343275" y="7239000"/>
            <a:ext cx="155276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Atraso × nota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135880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625465" y="7239000"/>
            <a:ext cx="155276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Mapa regional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02 · TEMPO DE ENTREGA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Funil de tempo logístico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 compra à entrega são ~12,6 dias em média — e o transporte concentra a maior parte do tempo.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16687800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26820" y="4100989"/>
            <a:ext cx="1531418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kern="0" spc="-150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12,6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771418" y="4489609"/>
            <a:ext cx="50715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dias · compra → entrega ao cliente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26820" y="5179219"/>
            <a:ext cx="506611" cy="8001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5179219"/>
            <a:ext cx="58281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0,4d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3431" y="5179219"/>
            <a:ext cx="3641884" cy="80010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1" name="Text 9"/>
          <p:cNvSpPr/>
          <p:nvPr/>
        </p:nvSpPr>
        <p:spPr>
          <a:xfrm>
            <a:off x="1678803" y="5179219"/>
            <a:ext cx="375114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2,9d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375315" y="5179219"/>
            <a:ext cx="11685746" cy="800100"/>
          </a:xfrm>
          <a:prstGeom prst="rect">
            <a:avLst/>
          </a:prstGeom>
          <a:solidFill>
            <a:srgbClr val="1B3B6F"/>
          </a:solidFill>
          <a:ln/>
        </p:spPr>
      </p:sp>
      <p:sp>
        <p:nvSpPr>
          <p:cNvPr id="13" name="Text 11"/>
          <p:cNvSpPr/>
          <p:nvPr/>
        </p:nvSpPr>
        <p:spPr>
          <a:xfrm>
            <a:off x="5200029" y="5179219"/>
            <a:ext cx="1203631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9,3 dias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26820" y="6265069"/>
            <a:ext cx="5138381" cy="228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1226820" y="6459379"/>
            <a:ext cx="565221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ETAPA 1 · 0,4 DIA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26820" y="6699409"/>
            <a:ext cx="56522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Compra → Aprovação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26820" y="7011829"/>
            <a:ext cx="565221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aprovação do pagamento (horas)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6574750" y="6265069"/>
            <a:ext cx="5138500" cy="22860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/>
          <p:nvPr/>
        </p:nvSpPr>
        <p:spPr>
          <a:xfrm>
            <a:off x="6574750" y="6459379"/>
            <a:ext cx="565235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ETAPA 2 · 2,9 DIAS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574750" y="6699409"/>
            <a:ext cx="56523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Aprovação → Postagem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74750" y="7011829"/>
            <a:ext cx="565235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separação e coleta no vendedor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11922800" y="6265069"/>
            <a:ext cx="5138381" cy="22860"/>
          </a:xfrm>
          <a:prstGeom prst="rect">
            <a:avLst/>
          </a:prstGeom>
          <a:solidFill>
            <a:srgbClr val="1B3B6F"/>
          </a:solidFill>
          <a:ln/>
        </p:spPr>
      </p:sp>
      <p:sp>
        <p:nvSpPr>
          <p:cNvPr id="23" name="Text 21"/>
          <p:cNvSpPr/>
          <p:nvPr/>
        </p:nvSpPr>
        <p:spPr>
          <a:xfrm>
            <a:off x="11922800" y="6459379"/>
            <a:ext cx="565221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C112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ETAPA 3 · 9,3 DIAS — GARGALO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1922800" y="6699409"/>
            <a:ext cx="565221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Postagem → Entrega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922800" y="7011829"/>
            <a:ext cx="565221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transporte até o cliente final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" y="9646920"/>
            <a:ext cx="477774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Médias de pedidos entregues · janela de 20 meses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24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02 · DRIVER DE SATISFAÇÃO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Atraso versus satisfação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Entregas atrasadas derrubam a nota em quase 1,7 ponto — a logística é a principal alavanca operacional de satisfação.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5678686" cy="7335203"/>
          </a:xfrm>
          <a:prstGeom prst="roundRect">
            <a:avLst>
              <a:gd name="adj" fmla="val 2684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1570" y="2273617"/>
            <a:ext cx="551732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Nota média por prazo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118836" y="3435906"/>
            <a:ext cx="609362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9D8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4,3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417320" y="3919776"/>
            <a:ext cx="1936313" cy="4786074"/>
          </a:xfrm>
          <a:prstGeom prst="roundRect">
            <a:avLst>
              <a:gd name="adj" fmla="val 3935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631293" y="5350312"/>
            <a:ext cx="60019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112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2,6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3925133" y="5834182"/>
            <a:ext cx="1936433" cy="2871669"/>
          </a:xfrm>
          <a:prstGeom prst="roundRect">
            <a:avLst>
              <a:gd name="adj" fmla="val 3935"/>
            </a:avLst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1320504" y="8839200"/>
            <a:ext cx="212994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 prazo / antecipado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3828312" y="8839200"/>
            <a:ext cx="213007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Atrasado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707386" y="1999298"/>
            <a:ext cx="5678805" cy="7335203"/>
          </a:xfrm>
          <a:prstGeom prst="roundRect">
            <a:avLst>
              <a:gd name="adj" fmla="val 2684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38856" y="2273617"/>
            <a:ext cx="551745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Tempo de entrega por nota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374017" y="2723197"/>
            <a:ext cx="378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112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21d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96006" y="3012758"/>
            <a:ext cx="858322" cy="5742623"/>
          </a:xfrm>
          <a:prstGeom prst="roundRect">
            <a:avLst>
              <a:gd name="adj" fmla="val 6658"/>
            </a:avLst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7411403" y="8831580"/>
            <a:ext cx="3037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★1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1524" y="3035141"/>
            <a:ext cx="38504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18d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06728" y="3324701"/>
            <a:ext cx="858441" cy="5430679"/>
          </a:xfrm>
          <a:prstGeom prst="roundRect">
            <a:avLst>
              <a:gd name="adj" fmla="val 6657"/>
            </a:avLst>
          </a:prstGeom>
          <a:solidFill>
            <a:srgbClr val="E0763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0694" y="8831580"/>
            <a:ext cx="326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392841" y="3941326"/>
            <a:ext cx="383857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15d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17568" y="4230886"/>
            <a:ext cx="858322" cy="4524494"/>
          </a:xfrm>
          <a:prstGeom prst="roundRect">
            <a:avLst>
              <a:gd name="adj" fmla="val 6658"/>
            </a:avLst>
          </a:prstGeom>
          <a:solidFill>
            <a:srgbClr val="E8C547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797" y="8831580"/>
            <a:ext cx="3319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406419" y="4847511"/>
            <a:ext cx="378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128290" y="5137071"/>
            <a:ext cx="858441" cy="3618309"/>
          </a:xfrm>
          <a:prstGeom prst="roundRect">
            <a:avLst>
              <a:gd name="adj" fmla="val 6657"/>
            </a:avLst>
          </a:prstGeom>
          <a:solidFill>
            <a:srgbClr val="8FBF63"/>
          </a:solidFill>
          <a:ln/>
        </p:spPr>
      </p:sp>
      <p:sp>
        <p:nvSpPr>
          <p:cNvPr id="26" name="Text 24"/>
          <p:cNvSpPr/>
          <p:nvPr/>
        </p:nvSpPr>
        <p:spPr>
          <a:xfrm>
            <a:off x="10428209" y="8831580"/>
            <a:ext cx="3348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★4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11784" y="5449491"/>
            <a:ext cx="38933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9D8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139131" y="5739051"/>
            <a:ext cx="858441" cy="3016330"/>
          </a:xfrm>
          <a:prstGeom prst="roundRect">
            <a:avLst>
              <a:gd name="adj" fmla="val 6657"/>
            </a:avLst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9525" y="8831580"/>
            <a:ext cx="3337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★5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2614792" y="1999298"/>
            <a:ext cx="4873109" cy="7335203"/>
          </a:xfrm>
          <a:prstGeom prst="roundRect">
            <a:avLst>
              <a:gd name="adj" fmla="val 3127"/>
            </a:avLst>
          </a:prstGeom>
          <a:solidFill>
            <a:srgbClr val="1B3B6F"/>
          </a:solidFill>
          <a:ln/>
        </p:spPr>
      </p:sp>
      <p:sp>
        <p:nvSpPr>
          <p:cNvPr id="31" name="Text 29"/>
          <p:cNvSpPr/>
          <p:nvPr/>
        </p:nvSpPr>
        <p:spPr>
          <a:xfrm>
            <a:off x="12919592" y="4625340"/>
            <a:ext cx="468986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CORRELAÇÃO NOTA × ATRASO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919592" y="4926330"/>
            <a:ext cx="46898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225" dirty="0">
                <a:solidFill>
                  <a:srgbClr val="F18F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−0,33</a:t>
            </a:r>
            <a:endParaRPr lang="en-US" sz="6300" dirty="0"/>
          </a:p>
        </p:txBody>
      </p:sp>
      <p:sp>
        <p:nvSpPr>
          <p:cNvPr id="33" name="Text 31"/>
          <p:cNvSpPr/>
          <p:nvPr/>
        </p:nvSpPr>
        <p:spPr>
          <a:xfrm>
            <a:off x="12919592" y="5859780"/>
            <a:ext cx="4391415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FFFFFF">
                    <a:alpha val="78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 atraso é o fator mais associado à insatisfação — à frente de preço ou categoria.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" y="9646920"/>
            <a:ext cx="517588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Pedidos entregues com avaliação · janela de 20 meses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24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02 · MAPA REGIONAL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Desempenho logístico por região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Norte e Nordeste entregam 2 a 3× mais devagar que São Paulo — onde a receita já é menor. Um ciclo de reforço negativo.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11924229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47595" y="2235517"/>
            <a:ext cx="279290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RECEITA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53272" y="2235517"/>
            <a:ext cx="279304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ENTREGA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59073" y="2235517"/>
            <a:ext cx="279304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ATRASO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764876" y="2235517"/>
            <a:ext cx="279304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3470" y="2477453"/>
            <a:ext cx="914400" cy="570428"/>
          </a:xfrm>
          <a:prstGeom prst="roundRect">
            <a:avLst>
              <a:gd name="adj" fmla="val 11689"/>
            </a:avLst>
          </a:prstGeom>
          <a:solidFill>
            <a:srgbClr val="1B3B6F"/>
          </a:solidFill>
          <a:ln/>
        </p:spPr>
      </p:sp>
      <p:sp>
        <p:nvSpPr>
          <p:cNvPr id="11" name="Text 9"/>
          <p:cNvSpPr/>
          <p:nvPr/>
        </p:nvSpPr>
        <p:spPr>
          <a:xfrm>
            <a:off x="1055370" y="2477453"/>
            <a:ext cx="990600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2074545" y="2477453"/>
            <a:ext cx="2539008" cy="570428"/>
          </a:xfrm>
          <a:prstGeom prst="roundRect">
            <a:avLst>
              <a:gd name="adj" fmla="val 11689"/>
            </a:avLst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2036445" y="2477453"/>
            <a:ext cx="2615208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R$ 5,9M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4680228" y="2477453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642128" y="2477453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8,3d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7286030" y="2477453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7247930" y="2477453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6%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891832" y="2477453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9853732" y="2477453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4,17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093470" y="3114556"/>
            <a:ext cx="914400" cy="570428"/>
          </a:xfrm>
          <a:prstGeom prst="roundRect">
            <a:avLst>
              <a:gd name="adj" fmla="val 11689"/>
            </a:avLst>
          </a:prstGeom>
          <a:solidFill>
            <a:srgbClr val="1B3B6F"/>
          </a:solidFill>
          <a:ln/>
        </p:spPr>
      </p:sp>
      <p:sp>
        <p:nvSpPr>
          <p:cNvPr id="21" name="Text 19"/>
          <p:cNvSpPr/>
          <p:nvPr/>
        </p:nvSpPr>
        <p:spPr>
          <a:xfrm>
            <a:off x="1055370" y="3114556"/>
            <a:ext cx="990600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RJ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2074545" y="3114556"/>
            <a:ext cx="2539008" cy="570428"/>
          </a:xfrm>
          <a:prstGeom prst="roundRect">
            <a:avLst>
              <a:gd name="adj" fmla="val 11689"/>
            </a:avLst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2036445" y="3114556"/>
            <a:ext cx="2615208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R$ 1,8M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4680228" y="3114556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25" name="Text 23"/>
          <p:cNvSpPr/>
          <p:nvPr/>
        </p:nvSpPr>
        <p:spPr>
          <a:xfrm>
            <a:off x="4642128" y="3114556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14,8d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7286030" y="3114556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27" name="Text 25"/>
          <p:cNvSpPr/>
          <p:nvPr/>
        </p:nvSpPr>
        <p:spPr>
          <a:xfrm>
            <a:off x="7247930" y="3114556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11%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9891832" y="3114556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8C547"/>
          </a:solidFill>
          <a:ln/>
        </p:spPr>
      </p:sp>
      <p:sp>
        <p:nvSpPr>
          <p:cNvPr id="29" name="Text 27"/>
          <p:cNvSpPr/>
          <p:nvPr/>
        </p:nvSpPr>
        <p:spPr>
          <a:xfrm>
            <a:off x="9853732" y="3114556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3,87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1093470" y="3751659"/>
            <a:ext cx="914400" cy="570428"/>
          </a:xfrm>
          <a:prstGeom prst="roundRect">
            <a:avLst>
              <a:gd name="adj" fmla="val 11689"/>
            </a:avLst>
          </a:prstGeom>
          <a:solidFill>
            <a:srgbClr val="1B3B6F"/>
          </a:solidFill>
          <a:ln/>
        </p:spPr>
      </p:sp>
      <p:sp>
        <p:nvSpPr>
          <p:cNvPr id="31" name="Text 29"/>
          <p:cNvSpPr/>
          <p:nvPr/>
        </p:nvSpPr>
        <p:spPr>
          <a:xfrm>
            <a:off x="1055370" y="3751659"/>
            <a:ext cx="990600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MG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2074545" y="3751659"/>
            <a:ext cx="2539008" cy="570428"/>
          </a:xfrm>
          <a:prstGeom prst="roundRect">
            <a:avLst>
              <a:gd name="adj" fmla="val 11689"/>
            </a:avLst>
          </a:prstGeom>
          <a:solidFill>
            <a:srgbClr val="7FB069"/>
          </a:solidFill>
          <a:ln/>
        </p:spPr>
      </p:sp>
      <p:sp>
        <p:nvSpPr>
          <p:cNvPr id="33" name="Text 31"/>
          <p:cNvSpPr/>
          <p:nvPr/>
        </p:nvSpPr>
        <p:spPr>
          <a:xfrm>
            <a:off x="2036445" y="3751659"/>
            <a:ext cx="2615208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R$ 1,6M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4680228" y="3751659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8C547"/>
          </a:solidFill>
          <a:ln/>
        </p:spPr>
      </p:sp>
      <p:sp>
        <p:nvSpPr>
          <p:cNvPr id="35" name="Text 33"/>
          <p:cNvSpPr/>
          <p:nvPr/>
        </p:nvSpPr>
        <p:spPr>
          <a:xfrm>
            <a:off x="4642128" y="3751659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11,5d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7286030" y="3751659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7FB069"/>
          </a:solidFill>
          <a:ln/>
        </p:spPr>
      </p:sp>
      <p:sp>
        <p:nvSpPr>
          <p:cNvPr id="37" name="Text 35"/>
          <p:cNvSpPr/>
          <p:nvPr/>
        </p:nvSpPr>
        <p:spPr>
          <a:xfrm>
            <a:off x="7247930" y="3751659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8%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9891832" y="3751659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2A9D8F"/>
          </a:solidFill>
          <a:ln/>
        </p:spPr>
      </p:sp>
      <p:sp>
        <p:nvSpPr>
          <p:cNvPr id="39" name="Text 37"/>
          <p:cNvSpPr/>
          <p:nvPr/>
        </p:nvSpPr>
        <p:spPr>
          <a:xfrm>
            <a:off x="9853732" y="3751659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4,12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1093470" y="4388763"/>
            <a:ext cx="914400" cy="570428"/>
          </a:xfrm>
          <a:prstGeom prst="roundRect">
            <a:avLst>
              <a:gd name="adj" fmla="val 11689"/>
            </a:avLst>
          </a:prstGeom>
          <a:solidFill>
            <a:srgbClr val="1B3B6F"/>
          </a:solidFill>
          <a:ln/>
        </p:spPr>
      </p:sp>
      <p:sp>
        <p:nvSpPr>
          <p:cNvPr id="41" name="Text 39"/>
          <p:cNvSpPr/>
          <p:nvPr/>
        </p:nvSpPr>
        <p:spPr>
          <a:xfrm>
            <a:off x="1055370" y="4388763"/>
            <a:ext cx="990600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RS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2074545" y="4388763"/>
            <a:ext cx="2539008" cy="570428"/>
          </a:xfrm>
          <a:prstGeom prst="roundRect">
            <a:avLst>
              <a:gd name="adj" fmla="val 11689"/>
            </a:avLst>
          </a:prstGeom>
          <a:solidFill>
            <a:srgbClr val="7FB069"/>
          </a:solidFill>
          <a:ln/>
        </p:spPr>
      </p:sp>
      <p:sp>
        <p:nvSpPr>
          <p:cNvPr id="43" name="Text 41"/>
          <p:cNvSpPr/>
          <p:nvPr/>
        </p:nvSpPr>
        <p:spPr>
          <a:xfrm>
            <a:off x="2036445" y="4388763"/>
            <a:ext cx="2615208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R$ 0,8M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4680228" y="4388763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45" name="Text 43"/>
          <p:cNvSpPr/>
          <p:nvPr/>
        </p:nvSpPr>
        <p:spPr>
          <a:xfrm>
            <a:off x="4642128" y="4388763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14,7d</a:t>
            </a:r>
            <a:endParaRPr lang="en-US" sz="1425" dirty="0"/>
          </a:p>
        </p:txBody>
      </p:sp>
      <p:sp>
        <p:nvSpPr>
          <p:cNvPr id="46" name="Shape 44"/>
          <p:cNvSpPr/>
          <p:nvPr/>
        </p:nvSpPr>
        <p:spPr>
          <a:xfrm>
            <a:off x="7286030" y="4388763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8C547"/>
          </a:solidFill>
          <a:ln/>
        </p:spPr>
      </p:sp>
      <p:sp>
        <p:nvSpPr>
          <p:cNvPr id="47" name="Text 45"/>
          <p:cNvSpPr/>
          <p:nvPr/>
        </p:nvSpPr>
        <p:spPr>
          <a:xfrm>
            <a:off x="7247930" y="4388763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9%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9891832" y="4388763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7FB069"/>
          </a:solidFill>
          <a:ln/>
        </p:spPr>
      </p:sp>
      <p:sp>
        <p:nvSpPr>
          <p:cNvPr id="49" name="Text 47"/>
          <p:cNvSpPr/>
          <p:nvPr/>
        </p:nvSpPr>
        <p:spPr>
          <a:xfrm>
            <a:off x="9853732" y="4388763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4,05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093470" y="5025866"/>
            <a:ext cx="914400" cy="570548"/>
          </a:xfrm>
          <a:prstGeom prst="roundRect">
            <a:avLst>
              <a:gd name="adj" fmla="val 11686"/>
            </a:avLst>
          </a:prstGeom>
          <a:solidFill>
            <a:srgbClr val="1B3B6F"/>
          </a:solidFill>
          <a:ln/>
        </p:spPr>
      </p:sp>
      <p:sp>
        <p:nvSpPr>
          <p:cNvPr id="51" name="Text 49"/>
          <p:cNvSpPr/>
          <p:nvPr/>
        </p:nvSpPr>
        <p:spPr>
          <a:xfrm>
            <a:off x="1055370" y="5025866"/>
            <a:ext cx="990600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</a:t>
            </a:r>
            <a:endParaRPr lang="en-US" sz="1425" dirty="0"/>
          </a:p>
        </p:txBody>
      </p:sp>
      <p:sp>
        <p:nvSpPr>
          <p:cNvPr id="52" name="Shape 50"/>
          <p:cNvSpPr/>
          <p:nvPr/>
        </p:nvSpPr>
        <p:spPr>
          <a:xfrm>
            <a:off x="2074545" y="5025866"/>
            <a:ext cx="2539008" cy="570548"/>
          </a:xfrm>
          <a:prstGeom prst="roundRect">
            <a:avLst>
              <a:gd name="adj" fmla="val 11686"/>
            </a:avLst>
          </a:prstGeom>
          <a:solidFill>
            <a:srgbClr val="7FB069"/>
          </a:solidFill>
          <a:ln/>
        </p:spPr>
      </p:sp>
      <p:sp>
        <p:nvSpPr>
          <p:cNvPr id="53" name="Text 51"/>
          <p:cNvSpPr/>
          <p:nvPr/>
        </p:nvSpPr>
        <p:spPr>
          <a:xfrm>
            <a:off x="2036445" y="5025866"/>
            <a:ext cx="2615208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R$ 0,7M</a:t>
            </a:r>
            <a:endParaRPr lang="en-US" sz="1425" dirty="0"/>
          </a:p>
        </p:txBody>
      </p:sp>
      <p:sp>
        <p:nvSpPr>
          <p:cNvPr id="54" name="Shape 52"/>
          <p:cNvSpPr/>
          <p:nvPr/>
        </p:nvSpPr>
        <p:spPr>
          <a:xfrm>
            <a:off x="4680228" y="5025866"/>
            <a:ext cx="2539127" cy="570548"/>
          </a:xfrm>
          <a:prstGeom prst="roundRect">
            <a:avLst>
              <a:gd name="adj" fmla="val 11686"/>
            </a:avLst>
          </a:prstGeom>
          <a:solidFill>
            <a:srgbClr val="E8C547"/>
          </a:solidFill>
          <a:ln/>
        </p:spPr>
      </p:sp>
      <p:sp>
        <p:nvSpPr>
          <p:cNvPr id="55" name="Text 53"/>
          <p:cNvSpPr/>
          <p:nvPr/>
        </p:nvSpPr>
        <p:spPr>
          <a:xfrm>
            <a:off x="4642128" y="5025866"/>
            <a:ext cx="2615327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11,5d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7286030" y="5025866"/>
            <a:ext cx="2539127" cy="570548"/>
          </a:xfrm>
          <a:prstGeom prst="roundRect">
            <a:avLst>
              <a:gd name="adj" fmla="val 11686"/>
            </a:avLst>
          </a:prstGeom>
          <a:solidFill>
            <a:srgbClr val="2A9D8F"/>
          </a:solidFill>
          <a:ln/>
        </p:spPr>
      </p:sp>
      <p:sp>
        <p:nvSpPr>
          <p:cNvPr id="57" name="Text 55"/>
          <p:cNvSpPr/>
          <p:nvPr/>
        </p:nvSpPr>
        <p:spPr>
          <a:xfrm>
            <a:off x="7247930" y="5025866"/>
            <a:ext cx="2615327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7%</a:t>
            </a:r>
            <a:endParaRPr lang="en-US" sz="1425" dirty="0"/>
          </a:p>
        </p:txBody>
      </p:sp>
      <p:sp>
        <p:nvSpPr>
          <p:cNvPr id="58" name="Shape 56"/>
          <p:cNvSpPr/>
          <p:nvPr/>
        </p:nvSpPr>
        <p:spPr>
          <a:xfrm>
            <a:off x="9891832" y="5025866"/>
            <a:ext cx="2539127" cy="570548"/>
          </a:xfrm>
          <a:prstGeom prst="roundRect">
            <a:avLst>
              <a:gd name="adj" fmla="val 11686"/>
            </a:avLst>
          </a:prstGeom>
          <a:solidFill>
            <a:srgbClr val="2A9D8F"/>
          </a:solidFill>
          <a:ln/>
        </p:spPr>
      </p:sp>
      <p:sp>
        <p:nvSpPr>
          <p:cNvPr id="59" name="Text 57"/>
          <p:cNvSpPr/>
          <p:nvPr/>
        </p:nvSpPr>
        <p:spPr>
          <a:xfrm>
            <a:off x="9853732" y="5025866"/>
            <a:ext cx="2615327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4,15</a:t>
            </a:r>
            <a:endParaRPr lang="en-US" sz="1425" dirty="0"/>
          </a:p>
        </p:txBody>
      </p:sp>
      <p:sp>
        <p:nvSpPr>
          <p:cNvPr id="60" name="Shape 58"/>
          <p:cNvSpPr/>
          <p:nvPr/>
        </p:nvSpPr>
        <p:spPr>
          <a:xfrm>
            <a:off x="1093470" y="5663089"/>
            <a:ext cx="914400" cy="570428"/>
          </a:xfrm>
          <a:prstGeom prst="roundRect">
            <a:avLst>
              <a:gd name="adj" fmla="val 11689"/>
            </a:avLst>
          </a:prstGeom>
          <a:solidFill>
            <a:srgbClr val="1B3B6F"/>
          </a:solidFill>
          <a:ln/>
        </p:spPr>
      </p:sp>
      <p:sp>
        <p:nvSpPr>
          <p:cNvPr id="61" name="Text 59"/>
          <p:cNvSpPr/>
          <p:nvPr/>
        </p:nvSpPr>
        <p:spPr>
          <a:xfrm>
            <a:off x="1055370" y="5663089"/>
            <a:ext cx="990600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2074545" y="5663089"/>
            <a:ext cx="2539008" cy="570428"/>
          </a:xfrm>
          <a:prstGeom prst="roundRect">
            <a:avLst>
              <a:gd name="adj" fmla="val 11689"/>
            </a:avLst>
          </a:prstGeom>
          <a:solidFill>
            <a:srgbClr val="E8C547"/>
          </a:solidFill>
          <a:ln/>
        </p:spPr>
      </p:sp>
      <p:sp>
        <p:nvSpPr>
          <p:cNvPr id="63" name="Text 61"/>
          <p:cNvSpPr/>
          <p:nvPr/>
        </p:nvSpPr>
        <p:spPr>
          <a:xfrm>
            <a:off x="2036445" y="5663089"/>
            <a:ext cx="2615208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R$ 0,5M</a:t>
            </a:r>
            <a:endParaRPr lang="en-US" sz="1425" dirty="0"/>
          </a:p>
        </p:txBody>
      </p:sp>
      <p:sp>
        <p:nvSpPr>
          <p:cNvPr id="64" name="Shape 62"/>
          <p:cNvSpPr/>
          <p:nvPr/>
        </p:nvSpPr>
        <p:spPr>
          <a:xfrm>
            <a:off x="4680228" y="5663089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C1121F"/>
          </a:solidFill>
          <a:ln/>
        </p:spPr>
      </p:sp>
      <p:sp>
        <p:nvSpPr>
          <p:cNvPr id="65" name="Text 63"/>
          <p:cNvSpPr/>
          <p:nvPr/>
        </p:nvSpPr>
        <p:spPr>
          <a:xfrm>
            <a:off x="4642128" y="5663089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18,8d</a:t>
            </a:r>
            <a:endParaRPr lang="en-US" sz="1425" dirty="0"/>
          </a:p>
        </p:txBody>
      </p:sp>
      <p:sp>
        <p:nvSpPr>
          <p:cNvPr id="66" name="Shape 64"/>
          <p:cNvSpPr/>
          <p:nvPr/>
        </p:nvSpPr>
        <p:spPr>
          <a:xfrm>
            <a:off x="7286030" y="5663089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67" name="Text 65"/>
          <p:cNvSpPr/>
          <p:nvPr/>
        </p:nvSpPr>
        <p:spPr>
          <a:xfrm>
            <a:off x="7247930" y="5663089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12%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9891832" y="5663089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69" name="Text 67"/>
          <p:cNvSpPr/>
          <p:nvPr/>
        </p:nvSpPr>
        <p:spPr>
          <a:xfrm>
            <a:off x="9853732" y="5663089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3,86</a:t>
            </a:r>
            <a:endParaRPr lang="en-US" sz="1425" dirty="0"/>
          </a:p>
        </p:txBody>
      </p:sp>
      <p:sp>
        <p:nvSpPr>
          <p:cNvPr id="70" name="Shape 68"/>
          <p:cNvSpPr/>
          <p:nvPr/>
        </p:nvSpPr>
        <p:spPr>
          <a:xfrm>
            <a:off x="1093470" y="6300192"/>
            <a:ext cx="914400" cy="570428"/>
          </a:xfrm>
          <a:prstGeom prst="roundRect">
            <a:avLst>
              <a:gd name="adj" fmla="val 11689"/>
            </a:avLst>
          </a:prstGeom>
          <a:solidFill>
            <a:srgbClr val="1B3B6F"/>
          </a:solidFill>
          <a:ln/>
        </p:spPr>
      </p:sp>
      <p:sp>
        <p:nvSpPr>
          <p:cNvPr id="71" name="Text 69"/>
          <p:cNvSpPr/>
          <p:nvPr/>
        </p:nvSpPr>
        <p:spPr>
          <a:xfrm>
            <a:off x="1055370" y="6300192"/>
            <a:ext cx="990600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</a:t>
            </a:r>
            <a:endParaRPr lang="en-US" sz="1425" dirty="0"/>
          </a:p>
        </p:txBody>
      </p:sp>
      <p:sp>
        <p:nvSpPr>
          <p:cNvPr id="72" name="Shape 70"/>
          <p:cNvSpPr/>
          <p:nvPr/>
        </p:nvSpPr>
        <p:spPr>
          <a:xfrm>
            <a:off x="2074545" y="6300192"/>
            <a:ext cx="2539008" cy="570428"/>
          </a:xfrm>
          <a:prstGeom prst="roundRect">
            <a:avLst>
              <a:gd name="adj" fmla="val 11689"/>
            </a:avLst>
          </a:prstGeom>
          <a:solidFill>
            <a:srgbClr val="E8C547"/>
          </a:solidFill>
          <a:ln/>
        </p:spPr>
      </p:sp>
      <p:sp>
        <p:nvSpPr>
          <p:cNvPr id="73" name="Text 71"/>
          <p:cNvSpPr/>
          <p:nvPr/>
        </p:nvSpPr>
        <p:spPr>
          <a:xfrm>
            <a:off x="2036445" y="6300192"/>
            <a:ext cx="2615208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R$ 0,4M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4680228" y="6300192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75" name="Text 73"/>
          <p:cNvSpPr/>
          <p:nvPr/>
        </p:nvSpPr>
        <p:spPr>
          <a:xfrm>
            <a:off x="4642128" y="6300192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17,8d</a:t>
            </a:r>
            <a:endParaRPr lang="en-US" sz="1425" dirty="0"/>
          </a:p>
        </p:txBody>
      </p:sp>
      <p:sp>
        <p:nvSpPr>
          <p:cNvPr id="76" name="Shape 74"/>
          <p:cNvSpPr/>
          <p:nvPr/>
        </p:nvSpPr>
        <p:spPr>
          <a:xfrm>
            <a:off x="7286030" y="6300192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77" name="Text 75"/>
          <p:cNvSpPr/>
          <p:nvPr/>
        </p:nvSpPr>
        <p:spPr>
          <a:xfrm>
            <a:off x="7247930" y="6300192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10%</a:t>
            </a:r>
            <a:endParaRPr lang="en-US" sz="1425" dirty="0"/>
          </a:p>
        </p:txBody>
      </p:sp>
      <p:sp>
        <p:nvSpPr>
          <p:cNvPr id="78" name="Shape 76"/>
          <p:cNvSpPr/>
          <p:nvPr/>
        </p:nvSpPr>
        <p:spPr>
          <a:xfrm>
            <a:off x="9891832" y="6300192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79" name="Text 77"/>
          <p:cNvSpPr/>
          <p:nvPr/>
        </p:nvSpPr>
        <p:spPr>
          <a:xfrm>
            <a:off x="9853732" y="6300192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3,95</a:t>
            </a:r>
            <a:endParaRPr lang="en-US" sz="1425" dirty="0"/>
          </a:p>
        </p:txBody>
      </p:sp>
      <p:sp>
        <p:nvSpPr>
          <p:cNvPr id="80" name="Shape 78"/>
          <p:cNvSpPr/>
          <p:nvPr/>
        </p:nvSpPr>
        <p:spPr>
          <a:xfrm>
            <a:off x="1093470" y="6937296"/>
            <a:ext cx="914400" cy="570428"/>
          </a:xfrm>
          <a:prstGeom prst="roundRect">
            <a:avLst>
              <a:gd name="adj" fmla="val 11689"/>
            </a:avLst>
          </a:prstGeom>
          <a:solidFill>
            <a:srgbClr val="1B3B6F"/>
          </a:solidFill>
          <a:ln/>
        </p:spPr>
      </p:sp>
      <p:sp>
        <p:nvSpPr>
          <p:cNvPr id="81" name="Text 79"/>
          <p:cNvSpPr/>
          <p:nvPr/>
        </p:nvSpPr>
        <p:spPr>
          <a:xfrm>
            <a:off x="1055370" y="6937296"/>
            <a:ext cx="990600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</a:t>
            </a:r>
            <a:endParaRPr lang="en-US" sz="1425" dirty="0"/>
          </a:p>
        </p:txBody>
      </p:sp>
      <p:sp>
        <p:nvSpPr>
          <p:cNvPr id="82" name="Shape 80"/>
          <p:cNvSpPr/>
          <p:nvPr/>
        </p:nvSpPr>
        <p:spPr>
          <a:xfrm>
            <a:off x="2074545" y="6937296"/>
            <a:ext cx="2539008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83" name="Text 81"/>
          <p:cNvSpPr/>
          <p:nvPr/>
        </p:nvSpPr>
        <p:spPr>
          <a:xfrm>
            <a:off x="2036445" y="6937296"/>
            <a:ext cx="2615208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R$ 0,3M</a:t>
            </a:r>
            <a:endParaRPr lang="en-US" sz="1425" dirty="0"/>
          </a:p>
        </p:txBody>
      </p:sp>
      <p:sp>
        <p:nvSpPr>
          <p:cNvPr id="84" name="Shape 82"/>
          <p:cNvSpPr/>
          <p:nvPr/>
        </p:nvSpPr>
        <p:spPr>
          <a:xfrm>
            <a:off x="4680228" y="6937296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C1121F"/>
          </a:solidFill>
          <a:ln/>
        </p:spPr>
      </p:sp>
      <p:sp>
        <p:nvSpPr>
          <p:cNvPr id="85" name="Text 83"/>
          <p:cNvSpPr/>
          <p:nvPr/>
        </p:nvSpPr>
        <p:spPr>
          <a:xfrm>
            <a:off x="4642128" y="6937296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20,8d</a:t>
            </a:r>
            <a:endParaRPr lang="en-US" sz="1425" dirty="0"/>
          </a:p>
        </p:txBody>
      </p:sp>
      <p:sp>
        <p:nvSpPr>
          <p:cNvPr id="86" name="Shape 84"/>
          <p:cNvSpPr/>
          <p:nvPr/>
        </p:nvSpPr>
        <p:spPr>
          <a:xfrm>
            <a:off x="7286030" y="6937296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C1121F"/>
          </a:solidFill>
          <a:ln/>
        </p:spPr>
      </p:sp>
      <p:sp>
        <p:nvSpPr>
          <p:cNvPr id="87" name="Text 85"/>
          <p:cNvSpPr/>
          <p:nvPr/>
        </p:nvSpPr>
        <p:spPr>
          <a:xfrm>
            <a:off x="7247930" y="6937296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13%</a:t>
            </a:r>
            <a:endParaRPr lang="en-US" sz="1425" dirty="0"/>
          </a:p>
        </p:txBody>
      </p:sp>
      <p:sp>
        <p:nvSpPr>
          <p:cNvPr id="88" name="Shape 86"/>
          <p:cNvSpPr/>
          <p:nvPr/>
        </p:nvSpPr>
        <p:spPr>
          <a:xfrm>
            <a:off x="9891832" y="6937296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89" name="Text 87"/>
          <p:cNvSpPr/>
          <p:nvPr/>
        </p:nvSpPr>
        <p:spPr>
          <a:xfrm>
            <a:off x="9853732" y="6937296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3,86</a:t>
            </a:r>
            <a:endParaRPr lang="en-US" sz="1425" dirty="0"/>
          </a:p>
        </p:txBody>
      </p:sp>
      <p:sp>
        <p:nvSpPr>
          <p:cNvPr id="90" name="Shape 88"/>
          <p:cNvSpPr/>
          <p:nvPr/>
        </p:nvSpPr>
        <p:spPr>
          <a:xfrm>
            <a:off x="1093470" y="7574399"/>
            <a:ext cx="914400" cy="570428"/>
          </a:xfrm>
          <a:prstGeom prst="roundRect">
            <a:avLst>
              <a:gd name="adj" fmla="val 11689"/>
            </a:avLst>
          </a:prstGeom>
          <a:solidFill>
            <a:srgbClr val="1B3B6F"/>
          </a:solidFill>
          <a:ln/>
        </p:spPr>
      </p:sp>
      <p:sp>
        <p:nvSpPr>
          <p:cNvPr id="91" name="Text 89"/>
          <p:cNvSpPr/>
          <p:nvPr/>
        </p:nvSpPr>
        <p:spPr>
          <a:xfrm>
            <a:off x="1055370" y="7574399"/>
            <a:ext cx="990600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</a:t>
            </a:r>
            <a:endParaRPr lang="en-US" sz="1425" dirty="0"/>
          </a:p>
        </p:txBody>
      </p:sp>
      <p:sp>
        <p:nvSpPr>
          <p:cNvPr id="92" name="Shape 90"/>
          <p:cNvSpPr/>
          <p:nvPr/>
        </p:nvSpPr>
        <p:spPr>
          <a:xfrm>
            <a:off x="2074545" y="7574399"/>
            <a:ext cx="2539008" cy="570428"/>
          </a:xfrm>
          <a:prstGeom prst="roundRect">
            <a:avLst>
              <a:gd name="adj" fmla="val 11689"/>
            </a:avLst>
          </a:prstGeom>
          <a:solidFill>
            <a:srgbClr val="E0763A"/>
          </a:solidFill>
          <a:ln/>
        </p:spPr>
      </p:sp>
      <p:sp>
        <p:nvSpPr>
          <p:cNvPr id="93" name="Text 91"/>
          <p:cNvSpPr/>
          <p:nvPr/>
        </p:nvSpPr>
        <p:spPr>
          <a:xfrm>
            <a:off x="2036445" y="7574399"/>
            <a:ext cx="2615208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R$ 0,2M</a:t>
            </a:r>
            <a:endParaRPr lang="en-US" sz="1425" dirty="0"/>
          </a:p>
        </p:txBody>
      </p:sp>
      <p:sp>
        <p:nvSpPr>
          <p:cNvPr id="94" name="Shape 92"/>
          <p:cNvSpPr/>
          <p:nvPr/>
        </p:nvSpPr>
        <p:spPr>
          <a:xfrm>
            <a:off x="4680228" y="7574399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C1121F"/>
          </a:solidFill>
          <a:ln/>
        </p:spPr>
      </p:sp>
      <p:sp>
        <p:nvSpPr>
          <p:cNvPr id="95" name="Text 93"/>
          <p:cNvSpPr/>
          <p:nvPr/>
        </p:nvSpPr>
        <p:spPr>
          <a:xfrm>
            <a:off x="4642128" y="7574399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23,3d</a:t>
            </a:r>
            <a:endParaRPr lang="en-US" sz="1425" dirty="0"/>
          </a:p>
        </p:txBody>
      </p:sp>
      <p:sp>
        <p:nvSpPr>
          <p:cNvPr id="96" name="Shape 94"/>
          <p:cNvSpPr/>
          <p:nvPr/>
        </p:nvSpPr>
        <p:spPr>
          <a:xfrm>
            <a:off x="7286030" y="7574399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C1121F"/>
          </a:solidFill>
          <a:ln/>
        </p:spPr>
      </p:sp>
      <p:sp>
        <p:nvSpPr>
          <p:cNvPr id="97" name="Text 95"/>
          <p:cNvSpPr/>
          <p:nvPr/>
        </p:nvSpPr>
        <p:spPr>
          <a:xfrm>
            <a:off x="7247930" y="7574399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16%</a:t>
            </a:r>
            <a:endParaRPr lang="en-US" sz="1425" dirty="0"/>
          </a:p>
        </p:txBody>
      </p:sp>
      <p:sp>
        <p:nvSpPr>
          <p:cNvPr id="98" name="Shape 96"/>
          <p:cNvSpPr/>
          <p:nvPr/>
        </p:nvSpPr>
        <p:spPr>
          <a:xfrm>
            <a:off x="9891832" y="7574399"/>
            <a:ext cx="2539127" cy="570428"/>
          </a:xfrm>
          <a:prstGeom prst="roundRect">
            <a:avLst>
              <a:gd name="adj" fmla="val 11689"/>
            </a:avLst>
          </a:prstGeom>
          <a:solidFill>
            <a:srgbClr val="C1121F"/>
          </a:solidFill>
          <a:ln/>
        </p:spPr>
      </p:sp>
      <p:sp>
        <p:nvSpPr>
          <p:cNvPr id="99" name="Text 97"/>
          <p:cNvSpPr/>
          <p:nvPr/>
        </p:nvSpPr>
        <p:spPr>
          <a:xfrm>
            <a:off x="9853732" y="7574399"/>
            <a:ext cx="2615327" cy="608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3,77</a:t>
            </a:r>
            <a:endParaRPr lang="en-US" sz="1425" dirty="0"/>
          </a:p>
        </p:txBody>
      </p:sp>
      <p:sp>
        <p:nvSpPr>
          <p:cNvPr id="100" name="Shape 98"/>
          <p:cNvSpPr/>
          <p:nvPr/>
        </p:nvSpPr>
        <p:spPr>
          <a:xfrm>
            <a:off x="1093470" y="8211503"/>
            <a:ext cx="914400" cy="570548"/>
          </a:xfrm>
          <a:prstGeom prst="roundRect">
            <a:avLst>
              <a:gd name="adj" fmla="val 11686"/>
            </a:avLst>
          </a:prstGeom>
          <a:solidFill>
            <a:srgbClr val="1B3B6F"/>
          </a:solidFill>
          <a:ln/>
        </p:spPr>
      </p:sp>
      <p:sp>
        <p:nvSpPr>
          <p:cNvPr id="101" name="Text 99"/>
          <p:cNvSpPr/>
          <p:nvPr/>
        </p:nvSpPr>
        <p:spPr>
          <a:xfrm>
            <a:off x="1055370" y="8211503"/>
            <a:ext cx="990600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</a:t>
            </a:r>
            <a:endParaRPr lang="en-US" sz="1425" dirty="0"/>
          </a:p>
        </p:txBody>
      </p:sp>
      <p:sp>
        <p:nvSpPr>
          <p:cNvPr id="102" name="Shape 100"/>
          <p:cNvSpPr/>
          <p:nvPr/>
        </p:nvSpPr>
        <p:spPr>
          <a:xfrm>
            <a:off x="2074545" y="8211503"/>
            <a:ext cx="2539008" cy="570548"/>
          </a:xfrm>
          <a:prstGeom prst="roundRect">
            <a:avLst>
              <a:gd name="adj" fmla="val 11686"/>
            </a:avLst>
          </a:prstGeom>
          <a:solidFill>
            <a:srgbClr val="C1121F"/>
          </a:solidFill>
          <a:ln/>
        </p:spPr>
      </p:sp>
      <p:sp>
        <p:nvSpPr>
          <p:cNvPr id="103" name="Text 101"/>
          <p:cNvSpPr/>
          <p:nvPr/>
        </p:nvSpPr>
        <p:spPr>
          <a:xfrm>
            <a:off x="2036445" y="8211503"/>
            <a:ext cx="2615208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R$ 0,07M</a:t>
            </a:r>
            <a:endParaRPr lang="en-US" sz="1425" dirty="0"/>
          </a:p>
        </p:txBody>
      </p:sp>
      <p:sp>
        <p:nvSpPr>
          <p:cNvPr id="104" name="Shape 102"/>
          <p:cNvSpPr/>
          <p:nvPr/>
        </p:nvSpPr>
        <p:spPr>
          <a:xfrm>
            <a:off x="4680228" y="8211503"/>
            <a:ext cx="2539127" cy="570548"/>
          </a:xfrm>
          <a:prstGeom prst="roundRect">
            <a:avLst>
              <a:gd name="adj" fmla="val 11686"/>
            </a:avLst>
          </a:prstGeom>
          <a:solidFill>
            <a:srgbClr val="C1121F"/>
          </a:solidFill>
          <a:ln/>
        </p:spPr>
      </p:sp>
      <p:sp>
        <p:nvSpPr>
          <p:cNvPr id="105" name="Text 103"/>
          <p:cNvSpPr/>
          <p:nvPr/>
        </p:nvSpPr>
        <p:spPr>
          <a:xfrm>
            <a:off x="4642128" y="8211503"/>
            <a:ext cx="2615327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25,9d</a:t>
            </a:r>
            <a:endParaRPr lang="en-US" sz="1425" dirty="0"/>
          </a:p>
        </p:txBody>
      </p:sp>
      <p:sp>
        <p:nvSpPr>
          <p:cNvPr id="106" name="Shape 104"/>
          <p:cNvSpPr/>
          <p:nvPr/>
        </p:nvSpPr>
        <p:spPr>
          <a:xfrm>
            <a:off x="7286030" y="8211503"/>
            <a:ext cx="2539127" cy="570548"/>
          </a:xfrm>
          <a:prstGeom prst="roundRect">
            <a:avLst>
              <a:gd name="adj" fmla="val 11686"/>
            </a:avLst>
          </a:prstGeom>
          <a:solidFill>
            <a:srgbClr val="C1121F"/>
          </a:solidFill>
          <a:ln/>
        </p:spPr>
      </p:sp>
      <p:sp>
        <p:nvSpPr>
          <p:cNvPr id="107" name="Text 105"/>
          <p:cNvSpPr/>
          <p:nvPr/>
        </p:nvSpPr>
        <p:spPr>
          <a:xfrm>
            <a:off x="7247930" y="8211503"/>
            <a:ext cx="2615327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18%</a:t>
            </a:r>
            <a:endParaRPr lang="en-US" sz="1425" dirty="0"/>
          </a:p>
        </p:txBody>
      </p:sp>
      <p:sp>
        <p:nvSpPr>
          <p:cNvPr id="108" name="Shape 106"/>
          <p:cNvSpPr/>
          <p:nvPr/>
        </p:nvSpPr>
        <p:spPr>
          <a:xfrm>
            <a:off x="9891832" y="8211503"/>
            <a:ext cx="2539127" cy="570548"/>
          </a:xfrm>
          <a:prstGeom prst="roundRect">
            <a:avLst>
              <a:gd name="adj" fmla="val 11686"/>
            </a:avLst>
          </a:prstGeom>
          <a:solidFill>
            <a:srgbClr val="C1121F"/>
          </a:solidFill>
          <a:ln/>
        </p:spPr>
      </p:sp>
      <p:sp>
        <p:nvSpPr>
          <p:cNvPr id="109" name="Text 107"/>
          <p:cNvSpPr/>
          <p:nvPr/>
        </p:nvSpPr>
        <p:spPr>
          <a:xfrm>
            <a:off x="9853732" y="8211503"/>
            <a:ext cx="2615327" cy="608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3,71</a:t>
            </a:r>
            <a:endParaRPr lang="en-US" sz="1425" dirty="0"/>
          </a:p>
        </p:txBody>
      </p:sp>
      <p:sp>
        <p:nvSpPr>
          <p:cNvPr id="110" name="Text 108"/>
          <p:cNvSpPr/>
          <p:nvPr/>
        </p:nvSpPr>
        <p:spPr>
          <a:xfrm>
            <a:off x="1093470" y="8915400"/>
            <a:ext cx="59055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melhor</a:t>
            </a:r>
            <a:endParaRPr lang="en-US" sz="1125" dirty="0"/>
          </a:p>
        </p:txBody>
      </p:sp>
      <p:sp>
        <p:nvSpPr>
          <p:cNvPr id="111" name="Shape 109"/>
          <p:cNvSpPr/>
          <p:nvPr/>
        </p:nvSpPr>
        <p:spPr>
          <a:xfrm>
            <a:off x="1741170" y="8959215"/>
            <a:ext cx="8703826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A9D8F">
                  <a:alpha val="100000"/>
                </a:srgbClr>
              </a:gs>
              <a:gs pos="25000">
                <a:srgbClr val="7FB069">
                  <a:alpha val="100000"/>
                </a:srgbClr>
              </a:gs>
              <a:gs pos="50000">
                <a:srgbClr val="E8C547">
                  <a:alpha val="100000"/>
                </a:srgbClr>
              </a:gs>
              <a:gs pos="75000">
                <a:srgbClr val="E0763A">
                  <a:alpha val="100000"/>
                </a:srgbClr>
              </a:gs>
              <a:gs pos="100000">
                <a:srgbClr val="C1121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12" name="Text 110"/>
          <p:cNvSpPr/>
          <p:nvPr/>
        </p:nvSpPr>
        <p:spPr>
          <a:xfrm>
            <a:off x="10578346" y="8915400"/>
            <a:ext cx="41910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C75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pior</a:t>
            </a:r>
            <a:endParaRPr lang="en-US" sz="1125" dirty="0"/>
          </a:p>
        </p:txBody>
      </p:sp>
      <p:sp>
        <p:nvSpPr>
          <p:cNvPr id="113" name="Text 111"/>
          <p:cNvSpPr/>
          <p:nvPr/>
        </p:nvSpPr>
        <p:spPr>
          <a:xfrm>
            <a:off x="11149846" y="8919210"/>
            <a:ext cx="140922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· escala por métrica</a:t>
            </a:r>
            <a:endParaRPr lang="en-US" sz="1125" dirty="0"/>
          </a:p>
        </p:txBody>
      </p:sp>
      <p:sp>
        <p:nvSpPr>
          <p:cNvPr id="114" name="Shape 112"/>
          <p:cNvSpPr/>
          <p:nvPr/>
        </p:nvSpPr>
        <p:spPr>
          <a:xfrm>
            <a:off x="12952929" y="1999298"/>
            <a:ext cx="4534972" cy="3309938"/>
          </a:xfrm>
          <a:prstGeom prst="roundRect">
            <a:avLst>
              <a:gd name="adj" fmla="val 4604"/>
            </a:avLst>
          </a:prstGeom>
          <a:solidFill>
            <a:srgbClr val="1B3B6F"/>
          </a:solidFill>
          <a:ln/>
        </p:spPr>
      </p:sp>
      <p:sp>
        <p:nvSpPr>
          <p:cNvPr id="115" name="Text 113"/>
          <p:cNvSpPr/>
          <p:nvPr/>
        </p:nvSpPr>
        <p:spPr>
          <a:xfrm>
            <a:off x="13257729" y="3007519"/>
            <a:ext cx="431790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50" dirty="0">
                <a:solidFill>
                  <a:srgbClr val="F18F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3×</a:t>
            </a:r>
            <a:endParaRPr lang="en-US" sz="4800" dirty="0"/>
          </a:p>
        </p:txBody>
      </p:sp>
      <p:sp>
        <p:nvSpPr>
          <p:cNvPr id="116" name="Text 114"/>
          <p:cNvSpPr/>
          <p:nvPr/>
        </p:nvSpPr>
        <p:spPr>
          <a:xfrm>
            <a:off x="13257729" y="3731419"/>
            <a:ext cx="4043133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mais lento entregar no Norte que em São Paulo</a:t>
            </a:r>
            <a:endParaRPr lang="en-US" sz="1725" dirty="0"/>
          </a:p>
        </p:txBody>
      </p:sp>
      <p:sp>
        <p:nvSpPr>
          <p:cNvPr id="117" name="Shape 115"/>
          <p:cNvSpPr/>
          <p:nvPr/>
        </p:nvSpPr>
        <p:spPr>
          <a:xfrm>
            <a:off x="12952929" y="5499735"/>
            <a:ext cx="4534972" cy="3834765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2952929" y="9326880"/>
            <a:ext cx="4534972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2952929" y="5499735"/>
            <a:ext cx="4534972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2952929" y="5499735"/>
            <a:ext cx="45720" cy="3834765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7480281" y="5499735"/>
            <a:ext cx="9525" cy="383476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122" name="Text 120"/>
          <p:cNvSpPr/>
          <p:nvPr/>
        </p:nvSpPr>
        <p:spPr>
          <a:xfrm>
            <a:off x="13303448" y="6842284"/>
            <a:ext cx="425923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CICLO DE REFORÇO NEGATIVO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13303448" y="7143274"/>
            <a:ext cx="3988193" cy="886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Pior logística → pior experiência → menor penetração de mercado nas mesmas regiões.</a:t>
            </a:r>
            <a:endParaRPr lang="en-US" sz="1650" dirty="0"/>
          </a:p>
        </p:txBody>
      </p:sp>
      <p:sp>
        <p:nvSpPr>
          <p:cNvPr id="124" name="Shape 122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5" name="Text 123"/>
          <p:cNvSpPr/>
          <p:nvPr/>
        </p:nvSpPr>
        <p:spPr>
          <a:xfrm>
            <a:off x="800100" y="9646920"/>
            <a:ext cx="616338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Estados com ≥ 30 pedidos · cor relativa dentro de cada métrica</a:t>
            </a:r>
            <a:endParaRPr lang="en-US" sz="1125" dirty="0"/>
          </a:p>
        </p:txBody>
      </p:sp>
      <p:sp>
        <p:nvSpPr>
          <p:cNvPr id="126" name="Text 124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24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11780"/>
            <a:ext cx="180213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000" b="1" kern="0" spc="-450" dirty="0">
                <a:solidFill>
                  <a:srgbClr val="F18F01">
                    <a:alpha val="16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4431030"/>
            <a:ext cx="180213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7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48768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Comportamento e pagamentos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52500" y="5924550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2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Como os clientes pagam, o perfil de recência, frequência e valor — e a pergunta decisiva: a base recompra?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7239000"/>
            <a:ext cx="214998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Meios de pagamento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288030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777615" y="7239000"/>
            <a:ext cx="143332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Parcelamento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461635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951220" y="7239000"/>
            <a:ext cx="226942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Recompra e retenção</a:t>
            </a:r>
            <a:endParaRPr lang="en-US" sz="14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03 · PAGAMENTOS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Como os clientes pagam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 cartão domina e o ticket já é tratado como compra parcelável — espaço para elevar o ticket médio sem fricção no checkout.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7869317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1570" y="2273617"/>
            <a:ext cx="79270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Formas de pagamento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31570" y="4729639"/>
            <a:ext cx="2286000" cy="2286000"/>
          </a:xfrm>
          <a:prstGeom prst="ellipse">
            <a:avLst/>
          </a:prstGeom>
          <a:solidFill>
            <a:srgbClr val="1B3B6F"/>
          </a:solidFill>
          <a:ln/>
        </p:spPr>
      </p:sp>
      <p:sp>
        <p:nvSpPr>
          <p:cNvPr id="8" name="Shape 6"/>
          <p:cNvSpPr/>
          <p:nvPr/>
        </p:nvSpPr>
        <p:spPr>
          <a:xfrm>
            <a:off x="1617345" y="5215414"/>
            <a:ext cx="1314450" cy="13144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904881" y="5590699"/>
            <a:ext cx="81557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74%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959888" y="5979319"/>
            <a:ext cx="70544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 cartão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3741420" y="5224939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B3B6F"/>
          </a:solidFill>
          <a:ln/>
        </p:spPr>
      </p:sp>
      <p:sp>
        <p:nvSpPr>
          <p:cNvPr id="12" name="Text 10"/>
          <p:cNvSpPr/>
          <p:nvPr/>
        </p:nvSpPr>
        <p:spPr>
          <a:xfrm>
            <a:off x="4008120" y="5186839"/>
            <a:ext cx="41650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Cartão de crédito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08846" y="5186839"/>
            <a:ext cx="5053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74%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1420" y="5605939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008120" y="5567839"/>
            <a:ext cx="418916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Boleto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30753" y="5567839"/>
            <a:ext cx="4833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19%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741420" y="5986939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F18F01"/>
          </a:solidFill>
          <a:ln/>
        </p:spPr>
      </p:sp>
      <p:sp>
        <p:nvSpPr>
          <p:cNvPr id="18" name="Text 16"/>
          <p:cNvSpPr/>
          <p:nvPr/>
        </p:nvSpPr>
        <p:spPr>
          <a:xfrm>
            <a:off x="4008120" y="5948839"/>
            <a:ext cx="42976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Voucher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29337" y="5948839"/>
            <a:ext cx="3848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41420" y="6367939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8ECAE6"/>
          </a:solidFill>
          <a:ln/>
        </p:spPr>
      </p:sp>
      <p:sp>
        <p:nvSpPr>
          <p:cNvPr id="21" name="Text 19"/>
          <p:cNvSpPr/>
          <p:nvPr/>
        </p:nvSpPr>
        <p:spPr>
          <a:xfrm>
            <a:off x="4008120" y="6329839"/>
            <a:ext cx="43042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Cartão de débito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35409" y="6329839"/>
            <a:ext cx="3787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898017" y="1999298"/>
            <a:ext cx="8589883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29487" y="2273617"/>
            <a:ext cx="264360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Parcelamento no cartão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6127731" y="2304098"/>
            <a:ext cx="11049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média 3,5×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229487" y="2685097"/>
            <a:ext cx="581978" cy="6119813"/>
          </a:xfrm>
          <a:prstGeom prst="roundRect">
            <a:avLst>
              <a:gd name="adj" fmla="val 6547"/>
            </a:avLst>
          </a:prstGeom>
          <a:solidFill>
            <a:srgbClr val="1B3B6F"/>
          </a:solidFill>
          <a:ln/>
        </p:spPr>
      </p:sp>
      <p:sp>
        <p:nvSpPr>
          <p:cNvPr id="27" name="Shape 25"/>
          <p:cNvSpPr/>
          <p:nvPr/>
        </p:nvSpPr>
        <p:spPr>
          <a:xfrm>
            <a:off x="9897190" y="5377815"/>
            <a:ext cx="582097" cy="3427095"/>
          </a:xfrm>
          <a:prstGeom prst="roundRect">
            <a:avLst>
              <a:gd name="adj" fmla="val 6545"/>
            </a:avLst>
          </a:prstGeom>
          <a:solidFill>
            <a:srgbClr val="2E86A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65011" y="5622607"/>
            <a:ext cx="581978" cy="3182303"/>
          </a:xfrm>
          <a:prstGeom prst="roundRect">
            <a:avLst>
              <a:gd name="adj" fmla="val 6547"/>
            </a:avLst>
          </a:prstGeom>
          <a:solidFill>
            <a:srgbClr val="2E86A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32713" y="6356985"/>
            <a:ext cx="582097" cy="2447925"/>
          </a:xfrm>
          <a:prstGeom prst="roundRect">
            <a:avLst>
              <a:gd name="adj" fmla="val 6545"/>
            </a:avLst>
          </a:prstGeom>
          <a:solidFill>
            <a:srgbClr val="2E86A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900535" y="6601778"/>
            <a:ext cx="581978" cy="2203133"/>
          </a:xfrm>
          <a:prstGeom prst="roundRect">
            <a:avLst>
              <a:gd name="adj" fmla="val 6547"/>
            </a:avLst>
          </a:prstGeom>
          <a:solidFill>
            <a:srgbClr val="2E86AB"/>
          </a:solidFill>
          <a:ln/>
        </p:spPr>
      </p:sp>
      <p:sp>
        <p:nvSpPr>
          <p:cNvPr id="31" name="Shape 29"/>
          <p:cNvSpPr/>
          <p:nvPr/>
        </p:nvSpPr>
        <p:spPr>
          <a:xfrm>
            <a:off x="12568238" y="5867400"/>
            <a:ext cx="581978" cy="2937510"/>
          </a:xfrm>
          <a:prstGeom prst="roundRect">
            <a:avLst>
              <a:gd name="adj" fmla="val 6547"/>
            </a:avLst>
          </a:prstGeom>
          <a:solidFill>
            <a:srgbClr val="2E86AB"/>
          </a:solidFill>
          <a:ln/>
        </p:spPr>
      </p:sp>
      <p:sp>
        <p:nvSpPr>
          <p:cNvPr id="32" name="Shape 30"/>
          <p:cNvSpPr/>
          <p:nvPr/>
        </p:nvSpPr>
        <p:spPr>
          <a:xfrm>
            <a:off x="13235940" y="7825740"/>
            <a:ext cx="581978" cy="979170"/>
          </a:xfrm>
          <a:prstGeom prst="roundRect">
            <a:avLst>
              <a:gd name="adj" fmla="val 6547"/>
            </a:avLst>
          </a:prstGeom>
          <a:solidFill>
            <a:srgbClr val="8ECAE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903643" y="7091363"/>
            <a:ext cx="581978" cy="1713548"/>
          </a:xfrm>
          <a:prstGeom prst="roundRect">
            <a:avLst>
              <a:gd name="adj" fmla="val 6547"/>
            </a:avLst>
          </a:prstGeom>
          <a:solidFill>
            <a:srgbClr val="8ECAE6"/>
          </a:solidFill>
          <a:ln/>
        </p:spPr>
      </p:sp>
      <p:sp>
        <p:nvSpPr>
          <p:cNvPr id="34" name="Shape 32"/>
          <p:cNvSpPr/>
          <p:nvPr/>
        </p:nvSpPr>
        <p:spPr>
          <a:xfrm>
            <a:off x="14571345" y="8315325"/>
            <a:ext cx="581978" cy="489585"/>
          </a:xfrm>
          <a:prstGeom prst="roundRect">
            <a:avLst>
              <a:gd name="adj" fmla="val 7782"/>
            </a:avLst>
          </a:prstGeom>
          <a:solidFill>
            <a:srgbClr val="8ECAE6"/>
          </a:solidFill>
          <a:ln/>
        </p:spPr>
      </p:sp>
      <p:sp>
        <p:nvSpPr>
          <p:cNvPr id="35" name="Shape 33"/>
          <p:cNvSpPr/>
          <p:nvPr/>
        </p:nvSpPr>
        <p:spPr>
          <a:xfrm>
            <a:off x="15239048" y="7336155"/>
            <a:ext cx="581978" cy="1468755"/>
          </a:xfrm>
          <a:prstGeom prst="roundRect">
            <a:avLst>
              <a:gd name="adj" fmla="val 6547"/>
            </a:avLst>
          </a:prstGeom>
          <a:solidFill>
            <a:srgbClr val="8ECAE6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06750" y="8498920"/>
            <a:ext cx="581978" cy="305991"/>
          </a:xfrm>
          <a:prstGeom prst="roundRect">
            <a:avLst>
              <a:gd name="adj" fmla="val 12451"/>
            </a:avLst>
          </a:prstGeom>
          <a:solidFill>
            <a:srgbClr val="8ECAE6"/>
          </a:solidFill>
          <a:ln/>
        </p:spPr>
      </p:sp>
      <p:sp>
        <p:nvSpPr>
          <p:cNvPr id="37" name="Shape 35"/>
          <p:cNvSpPr/>
          <p:nvPr/>
        </p:nvSpPr>
        <p:spPr>
          <a:xfrm>
            <a:off x="16574452" y="8376523"/>
            <a:ext cx="581978" cy="428387"/>
          </a:xfrm>
          <a:prstGeom prst="roundRect">
            <a:avLst>
              <a:gd name="adj" fmla="val 8894"/>
            </a:avLst>
          </a:prstGeom>
          <a:solidFill>
            <a:srgbClr val="8ECAE6"/>
          </a:solidFill>
          <a:ln/>
        </p:spPr>
      </p:sp>
      <p:sp>
        <p:nvSpPr>
          <p:cNvPr id="38" name="Text 36"/>
          <p:cNvSpPr/>
          <p:nvPr/>
        </p:nvSpPr>
        <p:spPr>
          <a:xfrm>
            <a:off x="9191387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1x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9859090" y="8900160"/>
            <a:ext cx="65829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2x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0526911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3x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1194613" y="8900160"/>
            <a:ext cx="65829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4x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1862435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5x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2530138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6x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3197840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7x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3865543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8x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14533245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9x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5200948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10x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15868650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11x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6536352" y="8900160"/>
            <a:ext cx="65817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12x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800100" y="9646920"/>
            <a:ext cx="547449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Distribuição de pagamentos · pedidos da janela completa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24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03 · RETENÇÃO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Recompra e retenção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Recompra é exceção, não regra — o achado mais crítico da análise comportamental.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7286983" cy="7335203"/>
          </a:xfrm>
          <a:prstGeom prst="roundRect">
            <a:avLst>
              <a:gd name="adj" fmla="val 2091"/>
            </a:avLst>
          </a:prstGeom>
          <a:solidFill>
            <a:srgbClr val="1B3B6F"/>
          </a:solidFill>
          <a:ln/>
        </p:spPr>
      </p:sp>
      <p:sp>
        <p:nvSpPr>
          <p:cNvPr id="6" name="Text 4"/>
          <p:cNvSpPr/>
          <p:nvPr/>
        </p:nvSpPr>
        <p:spPr>
          <a:xfrm>
            <a:off x="1200150" y="4360545"/>
            <a:ext cx="713557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0" b="1" kern="0" spc="-450" dirty="0">
                <a:solidFill>
                  <a:srgbClr val="F18F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3%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1200150" y="5884545"/>
            <a:ext cx="713557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dos clientes fazem um segundo pedido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00150" y="6413182"/>
            <a:ext cx="6681489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Benchmark de mercado: </a:t>
            </a:r>
            <a:r>
              <a:rPr lang="en-US" sz="1575" b="1" dirty="0">
                <a:solidFill>
                  <a:srgbClr val="8ECAE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20–30% </a:t>
            </a:r>
            <a:r>
              <a:rPr lang="en-US" sz="1575" dirty="0">
                <a:solidFill>
                  <a:srgbClr val="FFFFFF">
                    <a:alpha val="70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em 12 meses. O crescimento atual é "alugado", não "comprado".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8315683" y="1999298"/>
            <a:ext cx="9172218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5252" y="2292667"/>
            <a:ext cx="927638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Distribuição de clientes por nº de pedidos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325570" y="2818447"/>
            <a:ext cx="9038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~97%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875752" y="3256597"/>
            <a:ext cx="1727240" cy="4596765"/>
          </a:xfrm>
          <a:prstGeom prst="roundRect">
            <a:avLst>
              <a:gd name="adj" fmla="val 4412"/>
            </a:avLst>
          </a:prstGeom>
          <a:solidFill>
            <a:srgbClr val="6C757D"/>
          </a:solidFill>
          <a:ln/>
        </p:spPr>
      </p:sp>
      <p:sp>
        <p:nvSpPr>
          <p:cNvPr id="13" name="Text 11"/>
          <p:cNvSpPr/>
          <p:nvPr/>
        </p:nvSpPr>
        <p:spPr>
          <a:xfrm>
            <a:off x="9381054" y="7948613"/>
            <a:ext cx="79271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 pedido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1557517" y="7360801"/>
            <a:ext cx="65639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86A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2,2%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83992" y="7730371"/>
            <a:ext cx="1727359" cy="122992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29881" y="7948613"/>
            <a:ext cx="91178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 pedidos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3656589" y="7436168"/>
            <a:ext cx="6749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0,5%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092351" y="7805738"/>
            <a:ext cx="1727240" cy="47625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/>
        </p:spPr>
      </p:sp>
      <p:sp>
        <p:nvSpPr>
          <p:cNvPr id="19" name="Text 17"/>
          <p:cNvSpPr/>
          <p:nvPr/>
        </p:nvSpPr>
        <p:spPr>
          <a:xfrm>
            <a:off x="13535382" y="7948613"/>
            <a:ext cx="91725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 pedidos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5765542" y="7436168"/>
            <a:ext cx="67353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8F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0,3%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200591" y="7805738"/>
            <a:ext cx="1727240" cy="47625"/>
          </a:xfrm>
          <a:prstGeom prst="roundRect">
            <a:avLst>
              <a:gd name="adj" fmla="val 50000"/>
            </a:avLst>
          </a:prstGeom>
          <a:solidFill>
            <a:srgbClr val="F18F01"/>
          </a:solidFill>
          <a:ln/>
        </p:spPr>
      </p:sp>
      <p:sp>
        <p:nvSpPr>
          <p:cNvPr id="22" name="Text 20"/>
          <p:cNvSpPr/>
          <p:nvPr/>
        </p:nvSpPr>
        <p:spPr>
          <a:xfrm>
            <a:off x="15590164" y="7948613"/>
            <a:ext cx="102417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4+ pedidos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8685252" y="8341043"/>
            <a:ext cx="8433078" cy="9525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8685252" y="8501063"/>
            <a:ext cx="8686070" cy="57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Implicação direta em CAC e LTV: </a:t>
            </a:r>
            <a:r>
              <a:rPr lang="en-US" sz="15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resolver o gargalo logístico pode melhorar a nota </a:t>
            </a:r>
            <a:r>
              <a:rPr lang="en-US" sz="1575" i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 </a:t>
            </a:r>
            <a:r>
              <a:rPr lang="en-US" sz="15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recompra ao mesmo tempo.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9646920"/>
            <a:ext cx="617124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Frequência por customer_unique_id · base completa de entregues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24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11780"/>
            <a:ext cx="180213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000" b="1" kern="0" spc="-450" dirty="0">
                <a:solidFill>
                  <a:srgbClr val="F18F01">
                    <a:alpha val="16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4431030"/>
            <a:ext cx="180213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7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04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48768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Satisfação do cliente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52500" y="5924550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2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Como se distribuem as notas, quais fatores explicam a insatisfação e onde mora o risco de churn.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7239000"/>
            <a:ext cx="250831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Distribuição de notas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613785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4103370" y="7239000"/>
            <a:ext cx="226942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Temas de reclamação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6547485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037070" y="7239000"/>
            <a:ext cx="167220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Risco de churn</a:t>
            </a:r>
            <a:endParaRPr lang="en-US" sz="14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04 · AVALIAÇÕES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Distribuição das notas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Base majoritariamente satisfeita — mas quase 15% de notas 1–2 é um risco real de reputação num marketplace.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11846839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273617"/>
            <a:ext cx="267477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% dos pedidos avaliados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818139" y="2304098"/>
            <a:ext cx="158419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média 4,09 / 5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955721" y="6981349"/>
            <a:ext cx="86272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112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11,5%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417320" y="7404259"/>
            <a:ext cx="1863328" cy="1259681"/>
          </a:xfrm>
          <a:prstGeom prst="roundRect">
            <a:avLst>
              <a:gd name="adj" fmla="val 6049"/>
            </a:avLst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2186702" y="8778240"/>
            <a:ext cx="40064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 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243983" y="7941707"/>
            <a:ext cx="6605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3,2%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04498" y="8311277"/>
            <a:ext cx="1863447" cy="352663"/>
          </a:xfrm>
          <a:prstGeom prst="roundRect">
            <a:avLst>
              <a:gd name="adj" fmla="val 21607"/>
            </a:avLst>
          </a:prstGeom>
          <a:solidFill>
            <a:srgbClr val="E076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59831" y="8778240"/>
            <a:ext cx="42898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 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27947" y="7381042"/>
            <a:ext cx="66722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8,3%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91795" y="7750612"/>
            <a:ext cx="1863328" cy="913328"/>
          </a:xfrm>
          <a:prstGeom prst="roundRect">
            <a:avLst>
              <a:gd name="adj" fmla="val 8343"/>
            </a:avLst>
          </a:prstGeom>
          <a:solidFill>
            <a:srgbClr val="E8C547"/>
          </a:solidFill>
          <a:ln/>
        </p:spPr>
      </p:sp>
      <p:sp>
        <p:nvSpPr>
          <p:cNvPr id="16" name="Text 14"/>
          <p:cNvSpPr/>
          <p:nvPr/>
        </p:nvSpPr>
        <p:spPr>
          <a:xfrm>
            <a:off x="6544628" y="8778240"/>
            <a:ext cx="43374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 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552974" y="6146482"/>
            <a:ext cx="7915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19,6%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78973" y="6516053"/>
            <a:ext cx="1863447" cy="2147888"/>
          </a:xfrm>
          <a:prstGeom prst="roundRect">
            <a:avLst>
              <a:gd name="adj" fmla="val 4089"/>
            </a:avLst>
          </a:prstGeom>
          <a:solidFill>
            <a:srgbClr val="8FBF63"/>
          </a:solidFill>
          <a:ln/>
        </p:spPr>
      </p:sp>
      <p:sp>
        <p:nvSpPr>
          <p:cNvPr id="19" name="Text 17"/>
          <p:cNvSpPr/>
          <p:nvPr/>
        </p:nvSpPr>
        <p:spPr>
          <a:xfrm>
            <a:off x="8729543" y="8778240"/>
            <a:ext cx="4383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 4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666929" y="2761297"/>
            <a:ext cx="9382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9D8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57,4%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0166271" y="3184208"/>
            <a:ext cx="1863447" cy="5479732"/>
          </a:xfrm>
          <a:prstGeom prst="roundRect">
            <a:avLst>
              <a:gd name="adj" fmla="val 4089"/>
            </a:avLst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18270" y="8778240"/>
            <a:ext cx="4356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★ 5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2875539" y="1999298"/>
            <a:ext cx="4612362" cy="3564731"/>
          </a:xfrm>
          <a:prstGeom prst="roundRect">
            <a:avLst>
              <a:gd name="adj" fmla="val 4275"/>
            </a:avLst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13199389" y="3267789"/>
            <a:ext cx="436112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100" b="1" kern="0" spc="-1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77%</a:t>
            </a:r>
            <a:endParaRPr lang="en-US" sz="5100" dirty="0"/>
          </a:p>
        </p:txBody>
      </p:sp>
      <p:sp>
        <p:nvSpPr>
          <p:cNvPr id="25" name="Text 23"/>
          <p:cNvSpPr/>
          <p:nvPr/>
        </p:nvSpPr>
        <p:spPr>
          <a:xfrm>
            <a:off x="13199389" y="4010739"/>
            <a:ext cx="4361129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satisfeitos — notas 4 e 5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12875539" y="5754529"/>
            <a:ext cx="4612362" cy="3579971"/>
          </a:xfrm>
          <a:prstGeom prst="roundRect">
            <a:avLst>
              <a:gd name="adj" fmla="val 425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2875539" y="9326880"/>
            <a:ext cx="4612362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875539" y="5754529"/>
            <a:ext cx="4612362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875539" y="5754529"/>
            <a:ext cx="45720" cy="3579971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Shape 28"/>
          <p:cNvSpPr/>
          <p:nvPr/>
        </p:nvSpPr>
        <p:spPr>
          <a:xfrm>
            <a:off x="17480281" y="5754529"/>
            <a:ext cx="9525" cy="3579971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31" name="Text 29"/>
          <p:cNvSpPr/>
          <p:nvPr/>
        </p:nvSpPr>
        <p:spPr>
          <a:xfrm>
            <a:off x="13245108" y="7030641"/>
            <a:ext cx="430245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100" b="1" kern="0" spc="-150" dirty="0">
                <a:solidFill>
                  <a:srgbClr val="C1121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14,7%</a:t>
            </a:r>
            <a:endParaRPr lang="en-US" sz="5100" dirty="0"/>
          </a:p>
        </p:txBody>
      </p:sp>
      <p:sp>
        <p:nvSpPr>
          <p:cNvPr id="32" name="Text 30"/>
          <p:cNvSpPr/>
          <p:nvPr/>
        </p:nvSpPr>
        <p:spPr>
          <a:xfrm>
            <a:off x="13245108" y="7773591"/>
            <a:ext cx="4302455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7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insatisfeitos — notas 1 e 2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800100" y="9646920"/>
            <a:ext cx="507634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review_score · pedidos avaliados na janela completa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24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04 · VOZ DO CLIENTE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Por que os clientes reclamam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Nos comentários de notas 1–2, a logística domina: entrega que não chega ou atrasa supera produto e atendimento.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11389639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3874294"/>
            <a:ext cx="236220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Atraso / prazo de entrega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3665220" y="3948589"/>
            <a:ext cx="7335798" cy="323850"/>
          </a:xfrm>
          <a:prstGeom prst="roundRect">
            <a:avLst>
              <a:gd name="adj" fmla="val 17647"/>
            </a:avLst>
          </a:prstGeom>
          <a:solidFill>
            <a:srgbClr val="F4F0EC"/>
          </a:solidFill>
          <a:ln/>
        </p:spPr>
      </p:sp>
      <p:sp>
        <p:nvSpPr>
          <p:cNvPr id="8" name="Shape 6"/>
          <p:cNvSpPr/>
          <p:nvPr/>
        </p:nvSpPr>
        <p:spPr>
          <a:xfrm>
            <a:off x="3665220" y="3948589"/>
            <a:ext cx="7335798" cy="323850"/>
          </a:xfrm>
          <a:prstGeom prst="roundRect">
            <a:avLst>
              <a:gd name="adj" fmla="val 17647"/>
            </a:avLst>
          </a:prstGeom>
          <a:solidFill>
            <a:srgbClr val="C1121F"/>
          </a:solidFill>
          <a:ln/>
        </p:spPr>
      </p:sp>
      <p:sp>
        <p:nvSpPr>
          <p:cNvPr id="9" name="Text 7"/>
          <p:cNvSpPr/>
          <p:nvPr/>
        </p:nvSpPr>
        <p:spPr>
          <a:xfrm>
            <a:off x="11115318" y="3977164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35%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188720" y="4600099"/>
            <a:ext cx="2514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Produto não chegou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3665220" y="4556284"/>
            <a:ext cx="7335798" cy="323850"/>
          </a:xfrm>
          <a:prstGeom prst="roundRect">
            <a:avLst>
              <a:gd name="adj" fmla="val 17647"/>
            </a:avLst>
          </a:prstGeom>
          <a:solidFill>
            <a:srgbClr val="F4F0EC"/>
          </a:solidFill>
          <a:ln/>
        </p:spPr>
      </p:sp>
      <p:sp>
        <p:nvSpPr>
          <p:cNvPr id="12" name="Shape 10"/>
          <p:cNvSpPr/>
          <p:nvPr/>
        </p:nvSpPr>
        <p:spPr>
          <a:xfrm>
            <a:off x="3665220" y="4556284"/>
            <a:ext cx="5868591" cy="323850"/>
          </a:xfrm>
          <a:prstGeom prst="roundRect">
            <a:avLst>
              <a:gd name="adj" fmla="val 17647"/>
            </a:avLst>
          </a:prstGeom>
          <a:solidFill>
            <a:srgbClr val="C1121F"/>
          </a:solidFill>
          <a:ln/>
        </p:spPr>
      </p:sp>
      <p:sp>
        <p:nvSpPr>
          <p:cNvPr id="13" name="Text 11"/>
          <p:cNvSpPr/>
          <p:nvPr/>
        </p:nvSpPr>
        <p:spPr>
          <a:xfrm>
            <a:off x="11115318" y="4584859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28%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88720" y="5089684"/>
            <a:ext cx="236220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Produto com defeito / errado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3665220" y="5163979"/>
            <a:ext cx="7335798" cy="323850"/>
          </a:xfrm>
          <a:prstGeom prst="roundRect">
            <a:avLst>
              <a:gd name="adj" fmla="val 17647"/>
            </a:avLst>
          </a:prstGeom>
          <a:solidFill>
            <a:srgbClr val="F4F0EC"/>
          </a:solidFill>
          <a:ln/>
        </p:spPr>
      </p:sp>
      <p:sp>
        <p:nvSpPr>
          <p:cNvPr id="16" name="Shape 14"/>
          <p:cNvSpPr/>
          <p:nvPr/>
        </p:nvSpPr>
        <p:spPr>
          <a:xfrm>
            <a:off x="3665220" y="5163979"/>
            <a:ext cx="3741182" cy="323850"/>
          </a:xfrm>
          <a:prstGeom prst="roundRect">
            <a:avLst>
              <a:gd name="adj" fmla="val 17647"/>
            </a:avLst>
          </a:prstGeom>
          <a:solidFill>
            <a:srgbClr val="E076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115318" y="5192554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18%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188720" y="5815489"/>
            <a:ext cx="2514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Qualidade do produto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3665220" y="5771674"/>
            <a:ext cx="7335798" cy="323850"/>
          </a:xfrm>
          <a:prstGeom prst="roundRect">
            <a:avLst>
              <a:gd name="adj" fmla="val 17647"/>
            </a:avLst>
          </a:prstGeom>
          <a:solidFill>
            <a:srgbClr val="F4F0EC"/>
          </a:solidFill>
          <a:ln/>
        </p:spPr>
      </p:sp>
      <p:sp>
        <p:nvSpPr>
          <p:cNvPr id="20" name="Shape 18"/>
          <p:cNvSpPr/>
          <p:nvPr/>
        </p:nvSpPr>
        <p:spPr>
          <a:xfrm>
            <a:off x="3665220" y="5771674"/>
            <a:ext cx="2494121" cy="323850"/>
          </a:xfrm>
          <a:prstGeom prst="roundRect">
            <a:avLst>
              <a:gd name="adj" fmla="val 17647"/>
            </a:avLst>
          </a:prstGeom>
          <a:solidFill>
            <a:srgbClr val="E0763A"/>
          </a:solidFill>
          <a:ln/>
        </p:spPr>
      </p:sp>
      <p:sp>
        <p:nvSpPr>
          <p:cNvPr id="21" name="Text 19"/>
          <p:cNvSpPr/>
          <p:nvPr/>
        </p:nvSpPr>
        <p:spPr>
          <a:xfrm>
            <a:off x="11115318" y="5800249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12%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188720" y="6305074"/>
            <a:ext cx="236220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Atendimento / vendedor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3665220" y="6379369"/>
            <a:ext cx="7335798" cy="323850"/>
          </a:xfrm>
          <a:prstGeom prst="roundRect">
            <a:avLst>
              <a:gd name="adj" fmla="val 17647"/>
            </a:avLst>
          </a:prstGeom>
          <a:solidFill>
            <a:srgbClr val="F4F0EC"/>
          </a:solidFill>
          <a:ln/>
        </p:spPr>
      </p:sp>
      <p:sp>
        <p:nvSpPr>
          <p:cNvPr id="24" name="Shape 22"/>
          <p:cNvSpPr/>
          <p:nvPr/>
        </p:nvSpPr>
        <p:spPr>
          <a:xfrm>
            <a:off x="3665220" y="6379369"/>
            <a:ext cx="2053947" cy="323850"/>
          </a:xfrm>
          <a:prstGeom prst="roundRect">
            <a:avLst>
              <a:gd name="adj" fmla="val 17647"/>
            </a:avLst>
          </a:prstGeom>
          <a:solidFill>
            <a:srgbClr val="8ECAE6"/>
          </a:solidFill>
          <a:ln/>
        </p:spPr>
      </p:sp>
      <p:sp>
        <p:nvSpPr>
          <p:cNvPr id="25" name="Text 23"/>
          <p:cNvSpPr/>
          <p:nvPr/>
        </p:nvSpPr>
        <p:spPr>
          <a:xfrm>
            <a:off x="11115318" y="6407944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10%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188720" y="6987064"/>
            <a:ext cx="236220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Cancelamento / reembolso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3665220" y="7061359"/>
            <a:ext cx="7335798" cy="323850"/>
          </a:xfrm>
          <a:prstGeom prst="roundRect">
            <a:avLst>
              <a:gd name="adj" fmla="val 17647"/>
            </a:avLst>
          </a:prstGeom>
          <a:solidFill>
            <a:srgbClr val="F4F0EC"/>
          </a:solidFill>
          <a:ln/>
        </p:spPr>
      </p:sp>
      <p:sp>
        <p:nvSpPr>
          <p:cNvPr id="28" name="Shape 26"/>
          <p:cNvSpPr/>
          <p:nvPr/>
        </p:nvSpPr>
        <p:spPr>
          <a:xfrm>
            <a:off x="3665220" y="7061359"/>
            <a:ext cx="1687116" cy="323850"/>
          </a:xfrm>
          <a:prstGeom prst="roundRect">
            <a:avLst>
              <a:gd name="adj" fmla="val 17647"/>
            </a:avLst>
          </a:prstGeom>
          <a:solidFill>
            <a:srgbClr val="8ECAE6"/>
          </a:solidFill>
          <a:ln/>
        </p:spPr>
      </p:sp>
      <p:sp>
        <p:nvSpPr>
          <p:cNvPr id="29" name="Text 27"/>
          <p:cNvSpPr/>
          <p:nvPr/>
        </p:nvSpPr>
        <p:spPr>
          <a:xfrm>
            <a:off x="11115318" y="7089934"/>
            <a:ext cx="685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8%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12418339" y="1999298"/>
            <a:ext cx="5069562" cy="7335203"/>
          </a:xfrm>
          <a:prstGeom prst="roundRect">
            <a:avLst>
              <a:gd name="adj" fmla="val 3006"/>
            </a:avLst>
          </a:prstGeom>
          <a:solidFill>
            <a:srgbClr val="1B3B6F"/>
          </a:solidFill>
          <a:ln/>
        </p:spPr>
      </p:sp>
      <p:sp>
        <p:nvSpPr>
          <p:cNvPr id="31" name="Text 29"/>
          <p:cNvSpPr/>
          <p:nvPr/>
        </p:nvSpPr>
        <p:spPr>
          <a:xfrm>
            <a:off x="12742189" y="4632484"/>
            <a:ext cx="486404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RISCO DE CHURN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742189" y="4971574"/>
            <a:ext cx="4554518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Parte da base é adquirida e perdida na mesma transação.</a:t>
            </a:r>
            <a:endParaRPr lang="en-US" sz="2175" dirty="0"/>
          </a:p>
        </p:txBody>
      </p:sp>
      <p:sp>
        <p:nvSpPr>
          <p:cNvPr id="33" name="Text 31"/>
          <p:cNvSpPr/>
          <p:nvPr/>
        </p:nvSpPr>
        <p:spPr>
          <a:xfrm>
            <a:off x="12742189" y="5861209"/>
            <a:ext cx="4554518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FFFFFF">
                    <a:alpha val="74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Compra uma vez, sofre um atraso, avalia mal e não volta. Resolver a logística tem impacto duplo: melhora a nota </a:t>
            </a:r>
            <a:r>
              <a:rPr lang="en-US" sz="1575" b="1" dirty="0">
                <a:solidFill>
                  <a:srgbClr val="F18F0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 </a:t>
            </a:r>
            <a:r>
              <a:rPr lang="en-US" sz="1575" dirty="0">
                <a:solidFill>
                  <a:srgbClr val="FFFFFF">
                    <a:alpha val="74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recompra.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" y="9646920"/>
            <a:ext cx="637032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Classificação por palavras-chave · avaliações 1–2 com comentário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24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11780"/>
            <a:ext cx="180213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5000" b="1" kern="0" spc="-450" dirty="0">
                <a:solidFill>
                  <a:srgbClr val="F18F01">
                    <a:alpha val="16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952500" y="4431030"/>
            <a:ext cx="180213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7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48768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300" b="1" kern="0" spc="-15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Oportunidades e recomendações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52500" y="5924550"/>
            <a:ext cx="11772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2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Para onde a receita tende, quais alavancas priorizar e quais ações recomendamos à gestão e aos investidores.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7239000"/>
            <a:ext cx="226942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Projeção de receita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396615" y="7239000"/>
            <a:ext cx="18478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86200" y="7239000"/>
            <a:ext cx="286664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Recomendações acionáveis</a:t>
            </a:r>
            <a:endParaRPr lang="en-US" sz="14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5715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05 · PREVISÃO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06780"/>
            <a:ext cx="18356580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Projeção de receita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800100" y="1481138"/>
            <a:ext cx="15716250" cy="34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 tendência aponta continuidade do crescimento no curto prazo — leitura direcional para os próximos três meses.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00100" y="1999298"/>
            <a:ext cx="11813263" cy="7335203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7620">
            <a:solidFill>
              <a:srgbClr val="E6ECF3"/>
            </a:solidFill>
            <a:prstDash val="solid"/>
          </a:ln>
          <a:effectLst>
            <a:outerShdw blurRad="28575" dist="9525" dir="5400000" algn="bl" rotWithShape="0">
              <a:srgbClr val="1B3B6F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31570" y="228504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B3B6F"/>
          </a:solidFill>
          <a:ln/>
        </p:spPr>
      </p:sp>
      <p:sp>
        <p:nvSpPr>
          <p:cNvPr id="7" name="Text 5"/>
          <p:cNvSpPr/>
          <p:nvPr/>
        </p:nvSpPr>
        <p:spPr>
          <a:xfrm>
            <a:off x="1360170" y="2254567"/>
            <a:ext cx="101607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Receita real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566749" y="2285048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2795349" y="2254567"/>
            <a:ext cx="160234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Projeção (3 meses)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88193" y="2353628"/>
            <a:ext cx="209550" cy="15240"/>
          </a:xfrm>
          <a:prstGeom prst="rect">
            <a:avLst/>
          </a:prstGeom>
          <a:solidFill>
            <a:srgbClr val="9AA8BC"/>
          </a:solidFill>
          <a:ln/>
        </p:spPr>
      </p:sp>
      <p:sp>
        <p:nvSpPr>
          <p:cNvPr id="11" name="Text 9"/>
          <p:cNvSpPr/>
          <p:nvPr/>
        </p:nvSpPr>
        <p:spPr>
          <a:xfrm>
            <a:off x="4873943" y="2254567"/>
            <a:ext cx="87046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AA8B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tendência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31570" y="3753326"/>
            <a:ext cx="909757" cy="5108734"/>
          </a:xfrm>
          <a:prstGeom prst="roundRect">
            <a:avLst>
              <a:gd name="adj" fmla="val 4188"/>
            </a:avLst>
          </a:prstGeom>
          <a:solidFill>
            <a:srgbClr val="1B3B6F"/>
          </a:solidFill>
          <a:ln/>
        </p:spPr>
      </p:sp>
      <p:sp>
        <p:nvSpPr>
          <p:cNvPr id="13" name="Shape 11"/>
          <p:cNvSpPr/>
          <p:nvPr/>
        </p:nvSpPr>
        <p:spPr>
          <a:xfrm>
            <a:off x="2155627" y="4085154"/>
            <a:ext cx="909757" cy="4776907"/>
          </a:xfrm>
          <a:prstGeom prst="roundRect">
            <a:avLst>
              <a:gd name="adj" fmla="val 4188"/>
            </a:avLst>
          </a:prstGeom>
          <a:solidFill>
            <a:srgbClr val="1B3B6F"/>
          </a:solidFill>
          <a:ln/>
        </p:spPr>
      </p:sp>
      <p:sp>
        <p:nvSpPr>
          <p:cNvPr id="14" name="Shape 12"/>
          <p:cNvSpPr/>
          <p:nvPr/>
        </p:nvSpPr>
        <p:spPr>
          <a:xfrm>
            <a:off x="3179683" y="2933105"/>
            <a:ext cx="909757" cy="5928956"/>
          </a:xfrm>
          <a:prstGeom prst="roundRect">
            <a:avLst>
              <a:gd name="adj" fmla="val 4188"/>
            </a:avLst>
          </a:prstGeom>
          <a:solidFill>
            <a:srgbClr val="1B3B6F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3740" y="2601278"/>
            <a:ext cx="909757" cy="6260782"/>
          </a:xfrm>
          <a:prstGeom prst="roundRect">
            <a:avLst>
              <a:gd name="adj" fmla="val 4188"/>
            </a:avLst>
          </a:prstGeom>
          <a:solidFill>
            <a:srgbClr val="1B3B6F"/>
          </a:solidFill>
          <a:ln/>
        </p:spPr>
      </p:sp>
      <p:sp>
        <p:nvSpPr>
          <p:cNvPr id="16" name="Shape 14"/>
          <p:cNvSpPr/>
          <p:nvPr/>
        </p:nvSpPr>
        <p:spPr>
          <a:xfrm>
            <a:off x="5227797" y="2601278"/>
            <a:ext cx="909757" cy="6260782"/>
          </a:xfrm>
          <a:prstGeom prst="roundRect">
            <a:avLst>
              <a:gd name="adj" fmla="val 4188"/>
            </a:avLst>
          </a:prstGeom>
          <a:solidFill>
            <a:srgbClr val="1B3B6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1853" y="3258741"/>
            <a:ext cx="909757" cy="5603320"/>
          </a:xfrm>
          <a:prstGeom prst="roundRect">
            <a:avLst>
              <a:gd name="adj" fmla="val 4188"/>
            </a:avLst>
          </a:prstGeom>
          <a:solidFill>
            <a:srgbClr val="1B3B6F"/>
          </a:solidFill>
          <a:ln/>
        </p:spPr>
      </p:sp>
      <p:sp>
        <p:nvSpPr>
          <p:cNvPr id="18" name="Shape 16"/>
          <p:cNvSpPr/>
          <p:nvPr/>
        </p:nvSpPr>
        <p:spPr>
          <a:xfrm>
            <a:off x="7275909" y="2933105"/>
            <a:ext cx="909757" cy="5928956"/>
          </a:xfrm>
          <a:prstGeom prst="roundRect">
            <a:avLst>
              <a:gd name="adj" fmla="val 4188"/>
            </a:avLst>
          </a:prstGeom>
          <a:solidFill>
            <a:srgbClr val="1B3B6F"/>
          </a:solidFill>
          <a:ln/>
        </p:spPr>
      </p:sp>
      <p:sp>
        <p:nvSpPr>
          <p:cNvPr id="19" name="Shape 17"/>
          <p:cNvSpPr/>
          <p:nvPr/>
        </p:nvSpPr>
        <p:spPr>
          <a:xfrm>
            <a:off x="8299966" y="3095982"/>
            <a:ext cx="909757" cy="5766078"/>
          </a:xfrm>
          <a:prstGeom prst="roundRect">
            <a:avLst>
              <a:gd name="adj" fmla="val 4188"/>
            </a:avLst>
          </a:prstGeom>
          <a:solidFill>
            <a:srgbClr val="1B3B6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4023" y="2914412"/>
            <a:ext cx="909757" cy="5947648"/>
          </a:xfrm>
          <a:prstGeom prst="roundRect">
            <a:avLst>
              <a:gd name="adj" fmla="val 4188"/>
            </a:avLst>
          </a:prstGeom>
          <a:solidFill>
            <a:srgbClr val="F7B6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48079" y="2726531"/>
            <a:ext cx="909757" cy="6135529"/>
          </a:xfrm>
          <a:prstGeom prst="roundRect">
            <a:avLst>
              <a:gd name="adj" fmla="val 4188"/>
            </a:avLst>
          </a:prstGeom>
          <a:solidFill>
            <a:srgbClr val="F4A436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72136" y="2601278"/>
            <a:ext cx="909757" cy="6260782"/>
          </a:xfrm>
          <a:prstGeom prst="roundRect">
            <a:avLst>
              <a:gd name="adj" fmla="val 4188"/>
            </a:avLst>
          </a:prstGeom>
          <a:solidFill>
            <a:srgbClr val="F18F01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1570" y="2601278"/>
            <a:ext cx="11150323" cy="626078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93470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2117527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fev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3141583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4165640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abr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5189697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6213753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7237809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jul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8261866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ago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9285923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10309979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11334036" y="8957310"/>
            <a:ext cx="98595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nov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12841963" y="1999298"/>
            <a:ext cx="4645938" cy="3602831"/>
          </a:xfrm>
          <a:prstGeom prst="roundRect">
            <a:avLst>
              <a:gd name="adj" fmla="val 4230"/>
            </a:avLst>
          </a:prstGeom>
          <a:solidFill>
            <a:srgbClr val="1B3B6F"/>
          </a:solidFill>
          <a:ln/>
        </p:spPr>
      </p:sp>
      <p:sp>
        <p:nvSpPr>
          <p:cNvPr id="36" name="Text 33"/>
          <p:cNvSpPr/>
          <p:nvPr/>
        </p:nvSpPr>
        <p:spPr>
          <a:xfrm>
            <a:off x="13165813" y="3286839"/>
            <a:ext cx="439806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RECEITA PROJETADA / MÊS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3165813" y="3568780"/>
            <a:ext cx="4398062" cy="4981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112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~R$ 0,9 mi</a:t>
            </a:r>
            <a:endParaRPr lang="en-US" sz="3450" dirty="0"/>
          </a:p>
        </p:txBody>
      </p:sp>
      <p:sp>
        <p:nvSpPr>
          <p:cNvPr id="38" name="Text 35"/>
          <p:cNvSpPr/>
          <p:nvPr/>
        </p:nvSpPr>
        <p:spPr>
          <a:xfrm>
            <a:off x="13165813" y="4085987"/>
            <a:ext cx="43980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set – nov/2018 · intervalo aprox. 95%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2841963" y="5792629"/>
            <a:ext cx="4645938" cy="3541871"/>
          </a:xfrm>
          <a:prstGeom prst="roundRect">
            <a:avLst>
              <a:gd name="adj" fmla="val 4303"/>
            </a:avLst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12841963" y="9326880"/>
            <a:ext cx="4645938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1" name="Shape 38"/>
          <p:cNvSpPr/>
          <p:nvPr/>
        </p:nvSpPr>
        <p:spPr>
          <a:xfrm>
            <a:off x="12841963" y="5792629"/>
            <a:ext cx="4645938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841963" y="5792629"/>
            <a:ext cx="45720" cy="3541871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43" name="Shape 40"/>
          <p:cNvSpPr/>
          <p:nvPr/>
        </p:nvSpPr>
        <p:spPr>
          <a:xfrm>
            <a:off x="17480281" y="5792629"/>
            <a:ext cx="9525" cy="3541871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4" name="Text 41"/>
          <p:cNvSpPr/>
          <p:nvPr/>
        </p:nvSpPr>
        <p:spPr>
          <a:xfrm>
            <a:off x="13173432" y="7034927"/>
            <a:ext cx="44232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75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⚠ LEITURA DIRECIONAL</a:t>
            </a:r>
            <a:endParaRPr lang="en-US" sz="1125" dirty="0"/>
          </a:p>
        </p:txBody>
      </p:sp>
      <p:sp>
        <p:nvSpPr>
          <p:cNvPr id="45" name="Text 42"/>
          <p:cNvSpPr/>
          <p:nvPr/>
        </p:nvSpPr>
        <p:spPr>
          <a:xfrm>
            <a:off x="13173432" y="7320677"/>
            <a:ext cx="414173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5A6B82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Extrapolação linear simplificada — não substitui orçamento financeiro nem capta sazonalidade fina.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800100" y="9505950"/>
            <a:ext cx="166878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4"/>
          <p:cNvSpPr/>
          <p:nvPr/>
        </p:nvSpPr>
        <p:spPr>
          <a:xfrm>
            <a:off x="800100" y="9646920"/>
            <a:ext cx="408098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 de tendência linear sobre 20 meses</a:t>
            </a:r>
            <a:endParaRPr lang="en-US" sz="1125" dirty="0"/>
          </a:p>
        </p:txBody>
      </p:sp>
      <p:sp>
        <p:nvSpPr>
          <p:cNvPr id="48" name="Text 45"/>
          <p:cNvSpPr/>
          <p:nvPr/>
        </p:nvSpPr>
        <p:spPr>
          <a:xfrm>
            <a:off x="16854488" y="96469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24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514350"/>
            <a:ext cx="1852422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TRILHA 05 · PLANO DE AÇÃO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23900" y="830580"/>
            <a:ext cx="18524220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b="1" kern="0" spc="-37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Síntese de recomendações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23900" y="1480185"/>
            <a:ext cx="8315325" cy="1867376"/>
          </a:xfrm>
          <a:prstGeom prst="roundRect">
            <a:avLst>
              <a:gd name="adj" fmla="val 714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23900" y="3339941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1480185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1480185"/>
            <a:ext cx="45720" cy="18673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8" name="Shape 6"/>
          <p:cNvSpPr/>
          <p:nvPr/>
        </p:nvSpPr>
        <p:spPr>
          <a:xfrm>
            <a:off x="9031605" y="1480185"/>
            <a:ext cx="9525" cy="1867376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" y="1659255"/>
            <a:ext cx="373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47800" y="1659255"/>
            <a:ext cx="6479941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Programa estruturado de recompra e fidelização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447800" y="1946910"/>
            <a:ext cx="6479941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Cupom na 2ª compra, clube, CRM pós-venda · </a:t>
            </a:r>
            <a:r>
              <a:rPr lang="en-US" sz="1275" dirty="0">
                <a:solidFill>
                  <a:srgbClr val="2E86A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↑ LTV, payback de CAC </a:t>
            </a: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Trilha 3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9248775" y="1480185"/>
            <a:ext cx="8315325" cy="1867376"/>
          </a:xfrm>
          <a:prstGeom prst="roundRect">
            <a:avLst>
              <a:gd name="adj" fmla="val 714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248775" y="3339941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14" name="Shape 12"/>
          <p:cNvSpPr/>
          <p:nvPr/>
        </p:nvSpPr>
        <p:spPr>
          <a:xfrm>
            <a:off x="9248775" y="1480185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15" name="Shape 13"/>
          <p:cNvSpPr/>
          <p:nvPr/>
        </p:nvSpPr>
        <p:spPr>
          <a:xfrm>
            <a:off x="9248775" y="1480185"/>
            <a:ext cx="45720" cy="1867376"/>
          </a:xfrm>
          <a:prstGeom prst="rect">
            <a:avLst/>
          </a:prstGeom>
          <a:solidFill>
            <a:srgbClr val="F18F01"/>
          </a:solidFill>
          <a:ln/>
        </p:spPr>
      </p:sp>
      <p:sp>
        <p:nvSpPr>
          <p:cNvPr id="16" name="Shape 14"/>
          <p:cNvSpPr/>
          <p:nvPr/>
        </p:nvSpPr>
        <p:spPr>
          <a:xfrm>
            <a:off x="17556480" y="1480185"/>
            <a:ext cx="9525" cy="1867376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17" name="Text 15"/>
          <p:cNvSpPr/>
          <p:nvPr/>
        </p:nvSpPr>
        <p:spPr>
          <a:xfrm>
            <a:off x="9504045" y="1659255"/>
            <a:ext cx="373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972675" y="1659255"/>
            <a:ext cx="643082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Renegociar SLA logístico em períodos de pico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972675" y="1946910"/>
            <a:ext cx="6430828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Capacidade extra de coleta na Black Friday · </a:t>
            </a:r>
            <a:r>
              <a:rPr lang="en-US" sz="1275" dirty="0">
                <a:solidFill>
                  <a:srgbClr val="2E86A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↓ atrasos e notas baixas </a:t>
            </a: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Trilha 2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723900" y="3499961"/>
            <a:ext cx="8315325" cy="1867376"/>
          </a:xfrm>
          <a:prstGeom prst="roundRect">
            <a:avLst>
              <a:gd name="adj" fmla="val 7141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23900" y="5359718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22" name="Shape 20"/>
          <p:cNvSpPr/>
          <p:nvPr/>
        </p:nvSpPr>
        <p:spPr>
          <a:xfrm>
            <a:off x="723900" y="3499961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23" name="Shape 21"/>
          <p:cNvSpPr/>
          <p:nvPr/>
        </p:nvSpPr>
        <p:spPr>
          <a:xfrm>
            <a:off x="723900" y="3499961"/>
            <a:ext cx="45720" cy="18673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4" name="Shape 22"/>
          <p:cNvSpPr/>
          <p:nvPr/>
        </p:nvSpPr>
        <p:spPr>
          <a:xfrm>
            <a:off x="9031605" y="3499961"/>
            <a:ext cx="9525" cy="1867376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25" name="Text 23"/>
          <p:cNvSpPr/>
          <p:nvPr/>
        </p:nvSpPr>
        <p:spPr>
          <a:xfrm>
            <a:off x="979170" y="3679031"/>
            <a:ext cx="373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47800" y="3679031"/>
            <a:ext cx="5374958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Replicar boas práticas dos vendedores "elite"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447800" y="3966686"/>
            <a:ext cx="5374958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SLA contratual + onboarding · </a:t>
            </a:r>
            <a:r>
              <a:rPr lang="en-US" sz="1275" dirty="0">
                <a:solidFill>
                  <a:srgbClr val="2E86A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eleva o piso de qualidade </a:t>
            </a: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Trilha 5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9248775" y="3499961"/>
            <a:ext cx="8315325" cy="1867376"/>
          </a:xfrm>
          <a:prstGeom prst="roundRect">
            <a:avLst>
              <a:gd name="adj" fmla="val 7141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248775" y="5359718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30" name="Shape 28"/>
          <p:cNvSpPr/>
          <p:nvPr/>
        </p:nvSpPr>
        <p:spPr>
          <a:xfrm>
            <a:off x="9248775" y="3499961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31" name="Shape 29"/>
          <p:cNvSpPr/>
          <p:nvPr/>
        </p:nvSpPr>
        <p:spPr>
          <a:xfrm>
            <a:off x="9248775" y="3499961"/>
            <a:ext cx="45720" cy="18673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2" name="Shape 30"/>
          <p:cNvSpPr/>
          <p:nvPr/>
        </p:nvSpPr>
        <p:spPr>
          <a:xfrm>
            <a:off x="17556480" y="3499961"/>
            <a:ext cx="9525" cy="1867376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33" name="Text 31"/>
          <p:cNvSpPr/>
          <p:nvPr/>
        </p:nvSpPr>
        <p:spPr>
          <a:xfrm>
            <a:off x="9504045" y="3679031"/>
            <a:ext cx="373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972675" y="3679031"/>
            <a:ext cx="6434102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Revisar política de frete nas regiões mais caras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9972675" y="3966686"/>
            <a:ext cx="6434102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Hubs regionais e consolidação de rotas · </a:t>
            </a:r>
            <a:r>
              <a:rPr lang="en-US" sz="1275" dirty="0">
                <a:solidFill>
                  <a:srgbClr val="2E86A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↑ conversão fora do eixo SE </a:t>
            </a: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Trilha 5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723900" y="5519738"/>
            <a:ext cx="8315325" cy="1867376"/>
          </a:xfrm>
          <a:prstGeom prst="roundRect">
            <a:avLst>
              <a:gd name="adj" fmla="val 7141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23900" y="7379494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38" name="Shape 36"/>
          <p:cNvSpPr/>
          <p:nvPr/>
        </p:nvSpPr>
        <p:spPr>
          <a:xfrm>
            <a:off x="723900" y="5519738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39" name="Shape 37"/>
          <p:cNvSpPr/>
          <p:nvPr/>
        </p:nvSpPr>
        <p:spPr>
          <a:xfrm>
            <a:off x="723900" y="5519738"/>
            <a:ext cx="45720" cy="18673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0" name="Shape 38"/>
          <p:cNvSpPr/>
          <p:nvPr/>
        </p:nvSpPr>
        <p:spPr>
          <a:xfrm>
            <a:off x="9031605" y="5519738"/>
            <a:ext cx="9525" cy="1867376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1" name="Text 39"/>
          <p:cNvSpPr/>
          <p:nvPr/>
        </p:nvSpPr>
        <p:spPr>
          <a:xfrm>
            <a:off x="979170" y="5698807"/>
            <a:ext cx="373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447800" y="5698807"/>
            <a:ext cx="5533953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Expansão comercial para Norte/Nordeste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447800" y="5986463"/>
            <a:ext cx="5533953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Condicionada à melhoria logística · </a:t>
            </a:r>
            <a:r>
              <a:rPr lang="en-US" sz="1275" dirty="0">
                <a:solidFill>
                  <a:srgbClr val="2E86A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diversifica receita </a:t>
            </a: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Trilhas 1 e 2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9248775" y="5519738"/>
            <a:ext cx="8315325" cy="1867376"/>
          </a:xfrm>
          <a:prstGeom prst="roundRect">
            <a:avLst>
              <a:gd name="adj" fmla="val 7141"/>
            </a:avLst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9248775" y="7379494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6" name="Shape 44"/>
          <p:cNvSpPr/>
          <p:nvPr/>
        </p:nvSpPr>
        <p:spPr>
          <a:xfrm>
            <a:off x="9248775" y="5519738"/>
            <a:ext cx="8315325" cy="9525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7" name="Shape 45"/>
          <p:cNvSpPr/>
          <p:nvPr/>
        </p:nvSpPr>
        <p:spPr>
          <a:xfrm>
            <a:off x="9248775" y="5519738"/>
            <a:ext cx="45720" cy="1867376"/>
          </a:xfrm>
          <a:prstGeom prst="rect">
            <a:avLst/>
          </a:prstGeom>
          <a:solidFill>
            <a:srgbClr val="8ECAE6"/>
          </a:solidFill>
          <a:ln/>
        </p:spPr>
      </p:sp>
      <p:sp>
        <p:nvSpPr>
          <p:cNvPr id="48" name="Shape 46"/>
          <p:cNvSpPr/>
          <p:nvPr/>
        </p:nvSpPr>
        <p:spPr>
          <a:xfrm>
            <a:off x="17556480" y="5519738"/>
            <a:ext cx="9525" cy="1867376"/>
          </a:xfrm>
          <a:prstGeom prst="rect">
            <a:avLst/>
          </a:prstGeom>
          <a:solidFill>
            <a:srgbClr val="E6ECF3"/>
          </a:solidFill>
          <a:ln/>
        </p:spPr>
      </p:sp>
      <p:sp>
        <p:nvSpPr>
          <p:cNvPr id="49" name="Text 47"/>
          <p:cNvSpPr/>
          <p:nvPr/>
        </p:nvSpPr>
        <p:spPr>
          <a:xfrm>
            <a:off x="9504045" y="5698807"/>
            <a:ext cx="373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2E86A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9972675" y="5698807"/>
            <a:ext cx="4830389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1B3B6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Cross-sell e bundling nas categorias-âncora</a:t>
            </a:r>
            <a:endParaRPr lang="en-US" sz="1575" dirty="0"/>
          </a:p>
        </p:txBody>
      </p:sp>
      <p:sp>
        <p:nvSpPr>
          <p:cNvPr id="51" name="Text 49"/>
          <p:cNvSpPr/>
          <p:nvPr/>
        </p:nvSpPr>
        <p:spPr>
          <a:xfrm>
            <a:off x="9972675" y="5986463"/>
            <a:ext cx="4830389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Health, bed&amp;bath, sports · </a:t>
            </a:r>
            <a:r>
              <a:rPr lang="en-US" sz="1275" dirty="0">
                <a:solidFill>
                  <a:srgbClr val="2E86A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↑ ticket sem novo CAC </a:t>
            </a:r>
            <a:r>
              <a:rPr lang="en-US" sz="1275" dirty="0">
                <a:solidFill>
                  <a:srgbClr val="6C757D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Trilha 1</a:t>
            </a:r>
            <a:endParaRPr lang="en-US" sz="1275" dirty="0"/>
          </a:p>
        </p:txBody>
      </p:sp>
      <p:sp>
        <p:nvSpPr>
          <p:cNvPr id="52" name="Shape 50"/>
          <p:cNvSpPr/>
          <p:nvPr/>
        </p:nvSpPr>
        <p:spPr>
          <a:xfrm>
            <a:off x="723900" y="7539514"/>
            <a:ext cx="16840200" cy="1852136"/>
          </a:xfrm>
          <a:prstGeom prst="roundRect">
            <a:avLst>
              <a:gd name="adj" fmla="val 7200"/>
            </a:avLst>
          </a:prstGeom>
          <a:solidFill>
            <a:srgbClr val="1B3B6F"/>
          </a:solidFill>
          <a:ln/>
        </p:spPr>
      </p:sp>
      <p:sp>
        <p:nvSpPr>
          <p:cNvPr id="53" name="Text 51"/>
          <p:cNvSpPr/>
          <p:nvPr/>
        </p:nvSpPr>
        <p:spPr>
          <a:xfrm>
            <a:off x="933450" y="7710964"/>
            <a:ext cx="3733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402080" y="7710964"/>
            <a:ext cx="11298674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Monitorar e agir proativamente em pedidos com risco de atraso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1402080" y="7998619"/>
            <a:ext cx="11298674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dirty="0">
                <a:solidFill>
                  <a:srgbClr val="FFFFFF">
                    <a:alpha val="72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Alerta automático quando o tempo estimado de postagem for excedido · </a:t>
            </a:r>
            <a:r>
              <a:rPr lang="en-US" sz="1275" dirty="0">
                <a:solidFill>
                  <a:srgbClr val="8ECAE6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mitiga avaliações negativas antes que aconteçam </a:t>
            </a:r>
            <a:r>
              <a:rPr lang="en-US" sz="1275" dirty="0">
                <a:solidFill>
                  <a:srgbClr val="FFFFFF">
                    <a:alpha val="72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Trilhas 2 e 4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723900" y="9544050"/>
            <a:ext cx="16840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55"/>
          <p:cNvSpPr/>
          <p:nvPr/>
        </p:nvSpPr>
        <p:spPr>
          <a:xfrm>
            <a:off x="723900" y="9685020"/>
            <a:ext cx="507634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Cada recomendação ancorada em evidência das trilhas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16930688" y="96850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9AA8B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24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609600"/>
            <a:ext cx="1835658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CONCLUSÃO EXECUTIVA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0100" y="963930"/>
            <a:ext cx="1835658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50" b="1" kern="0" spc="-37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Dois riscos que são duas alavancas de valor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800100" y="1616392"/>
            <a:ext cx="1471612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FFFFFF">
                    <a:alpha val="74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Operação saudável e em crescimento, com portfólio amplo e vendedores pulverizados. Os principais riscos estão sob controle direto da gestão — não dependem de fatores macroeconômicos.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800100" y="2626043"/>
            <a:ext cx="8201025" cy="6517957"/>
          </a:xfrm>
          <a:prstGeom prst="roundRect">
            <a:avLst>
              <a:gd name="adj" fmla="val 2338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0620" y="2957513"/>
            <a:ext cx="55626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764030" y="3052763"/>
            <a:ext cx="13409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Retenção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50620" y="3647122"/>
            <a:ext cx="7724985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FFFFFF">
                    <a:alpha val="78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 3% de recompra, o crescimento é "alugado": cada cliente rende uma única transação. Transformar compradores em recorrentes eleva o LTV e alivia a pressão sobre o CAC.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50620" y="8599170"/>
            <a:ext cx="772498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Alavanca → LTV e rentabilidade por cliente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9286875" y="2626043"/>
            <a:ext cx="8201025" cy="6517957"/>
          </a:xfrm>
          <a:prstGeom prst="roundRect">
            <a:avLst>
              <a:gd name="adj" fmla="val 2338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37395" y="2957513"/>
            <a:ext cx="55626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18F0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0250806" y="3052763"/>
            <a:ext cx="12563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Logística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637395" y="3647122"/>
            <a:ext cx="7724985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FFFFFF">
                    <a:alpha val="78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 tempo de entrega é o fator mais ligado à insatisfação, picos de atraso coincidem com picos de demanda e há disparidade regional. Tornar a logística uma vantagem competitiva destrava satisfação e expansão.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637395" y="8599170"/>
            <a:ext cx="772498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Alavanca → satisfação e diversificação geográfica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800100" y="9429750"/>
            <a:ext cx="166878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" y="9608820"/>
            <a:ext cx="507634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FFFFFF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Leitura construtiva · riscos sob controle da gestão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6854488" y="9608820"/>
            <a:ext cx="70961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38" dirty="0">
                <a:solidFill>
                  <a:srgbClr val="FFFFFF">
                    <a:alpha val="55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24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3903917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OLIST · RELATÓRIO EXECUTIVO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4312265" y="838200"/>
            <a:ext cx="3325558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25" dirty="0">
                <a:solidFill>
                  <a:srgbClr val="8EC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1 — DATA ANALYTICS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52500" y="3495675"/>
            <a:ext cx="146685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187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Obrigado.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52500" y="4752975"/>
            <a:ext cx="1157668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Da transação ao insight acionável — crescimento, logística e retenção como as três frentes que definem o próximo patamar de valor da Olist.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" y="6257925"/>
            <a:ext cx="228600" cy="285750"/>
          </a:xfrm>
          <a:prstGeom prst="roundRect">
            <a:avLst>
              <a:gd name="adj" fmla="val 12500"/>
            </a:avLst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1314450" y="6143625"/>
            <a:ext cx="228600" cy="400050"/>
          </a:xfrm>
          <a:prstGeom prst="roundRect">
            <a:avLst>
              <a:gd name="adj" fmla="val 12500"/>
            </a:avLst>
          </a:prstGeom>
          <a:solidFill>
            <a:srgbClr val="8ECAE6"/>
          </a:solidFill>
          <a:ln/>
        </p:spPr>
      </p:sp>
      <p:sp>
        <p:nvSpPr>
          <p:cNvPr id="8" name="Shape 6"/>
          <p:cNvSpPr/>
          <p:nvPr/>
        </p:nvSpPr>
        <p:spPr>
          <a:xfrm>
            <a:off x="1676400" y="5972175"/>
            <a:ext cx="228600" cy="571500"/>
          </a:xfrm>
          <a:prstGeom prst="roundRect">
            <a:avLst>
              <a:gd name="adj" fmla="val 12500"/>
            </a:avLst>
          </a:prstGeom>
          <a:solidFill>
            <a:srgbClr val="F18F01"/>
          </a:solidFill>
          <a:ln/>
        </p:spPr>
      </p:sp>
      <p:sp>
        <p:nvSpPr>
          <p:cNvPr id="9" name="Shape 7"/>
          <p:cNvSpPr/>
          <p:nvPr/>
        </p:nvSpPr>
        <p:spPr>
          <a:xfrm>
            <a:off x="2038350" y="6063615"/>
            <a:ext cx="228600" cy="480060"/>
          </a:xfrm>
          <a:prstGeom prst="roundRect">
            <a:avLst>
              <a:gd name="adj" fmla="val 12500"/>
            </a:avLst>
          </a:prstGeom>
          <a:solidFill>
            <a:srgbClr val="8ECAE6"/>
          </a:solidFill>
          <a:ln/>
        </p:spPr>
      </p:sp>
      <p:sp>
        <p:nvSpPr>
          <p:cNvPr id="10" name="Shape 8"/>
          <p:cNvSpPr/>
          <p:nvPr/>
        </p:nvSpPr>
        <p:spPr>
          <a:xfrm>
            <a:off x="2400300" y="6017895"/>
            <a:ext cx="228600" cy="525780"/>
          </a:xfrm>
          <a:prstGeom prst="roundRect">
            <a:avLst>
              <a:gd name="adj" fmla="val 12500"/>
            </a:avLst>
          </a:prstGeom>
          <a:solidFill>
            <a:srgbClr val="8ECAE6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8980170"/>
            <a:ext cx="163830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9235440"/>
            <a:ext cx="6053899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" dirty="0">
                <a:solidFill>
                  <a:srgbClr val="FFFFFF">
                    <a:alpha val="6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POSTECH Data Analytics · Tech Challenge Fase 1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1322368" y="9235440"/>
            <a:ext cx="6614446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38" dirty="0">
                <a:solidFill>
                  <a:srgbClr val="FFFFFF">
                    <a:alpha val="62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Fonte: Brazilian E-Commerce Public Dataset (Olist / Kaggle)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3181</Words>
  <Application>Microsoft Office PowerPoint</Application>
  <PresentationFormat>Personalizar</PresentationFormat>
  <Paragraphs>526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IBM Plex Mono</vt:lpstr>
      <vt:lpstr>Libre Franklin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Emerson Meira</cp:lastModifiedBy>
  <cp:revision>2</cp:revision>
  <dcterms:created xsi:type="dcterms:W3CDTF">2026-06-21T02:13:30Z</dcterms:created>
  <dcterms:modified xsi:type="dcterms:W3CDTF">2026-06-21T02:14:46Z</dcterms:modified>
</cp:coreProperties>
</file>